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封面页用于建立学习预期，突出本节课主线和学习任务，风格保持简洁清晰。封面主视觉采用绿色植物叶片与阳光插图，中央标题突出；右下角可配“光→二氧化碳和水→有机物和氧气”的简洁知识链图标。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目录页用于建立整节课的知识地图，帮助学生明确学习顺序，并为后续板书结构做铺垫。采用纵向目录卡片式布局，突出“条件→过程→产物→意义→实验”主线。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本页先建立标准定义和关键词框架，为下一页进行定义拆解与判断打基础。强调“绿色植物”“光能作用下”两个限定语。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本页承接定义页，重点不是再背定义，而是把定义拆开用于判断。教师可边讲边板书“条件—原料—产物”，为下一页分析光合作用条件作铺垫。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本页突出“条件齐备、缺一不可”的整体认识，同时提醒学生区分光、叶绿体与二氧化碳、水的不同角色。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本页聚焦实验分析逻辑，强调用对照实验判断条件，不展开复杂器材和操作步骤。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本页帮助学生建立“原料进入—光能参与—有机物形成—氧气释放—能量储存”的过程链，不展开高中层面的光反应和暗反应。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本页承接“基本过程”，重点把理解转化为规范答题语言，为后续产物、意义和实验题作铺垫。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本页重点从“产物是什么”“产物有什么作用”“实验中怎样证明有机物形成”三个层面展开。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本页承接“光合作用的产物”，重点把有机物和氧气与植物生长、环境变化和实验题分析联系起来，同时纠正常见错误认识。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本页重点引导学生从植物个体作用上升到生物圈和生态系统层面理解光合作用。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本页从生态意义走向生活和生产应用，帮助学生把核心知识迁移到真实情境中。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本页聚焦考试中的实验分析方法，不再单讲知识点本身，而是训练学生把实验目的、变量、现象和结论连成完整链条。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本页用于课末集中纠错，与前面的定义、过程、实验分析和生态意义内容形成回扣。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总结页形成知识闭环，帮助学生把定义、条件、过程、产物、意义和实验分析方法整合成一个网络，便于课后复习与迁移应用。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6903720" y="1417320"/>
            <a:ext cx="4297680" cy="2331720"/>
          </a:xfrm>
          <a:prstGeom prst="roundRect">
            <a:avLst/>
          </a:prstGeom>
          <a:solidFill>
            <a:srgbClr val="FFFFFF"/>
          </a:solidFill>
          <a:ln w="12700">
            <a:solidFill>
              <a:srgbClr val="81C784"/>
            </a:solidFill>
            <a:prstDash val="solid"/>
          </a:ln>
        </p:spPr>
      </p:sp>
      <p:sp>
        <p:nvSpPr>
          <p:cNvPr id="6" name="Text 4"/>
          <p:cNvSpPr/>
          <p:nvPr/>
        </p:nvSpPr>
        <p:spPr>
          <a:xfrm>
            <a:off x="822960" y="731520"/>
            <a:ext cx="6766560" cy="868680"/>
          </a:xfrm>
          <a:prstGeom prst="rect">
            <a:avLst/>
          </a:prstGeom>
          <a:noFill/>
          <a:ln/>
        </p:spPr>
        <p:txBody>
          <a:bodyPr wrap="square" lIns="0" tIns="0" rIns="0" bIns="0" rtlCol="0" anchor="t">
            <a:normAutofit/>
          </a:bodyPr>
          <a:lstStyle/>
          <a:p>
            <a:pPr indent="0" marL="0">
              <a:buNone/>
            </a:pPr>
            <a:r>
              <a:rPr lang="en-US" sz="3000" b="1" dirty="0">
                <a:solidFill>
                  <a:srgbClr val="1F2D1F"/>
                </a:solidFill>
                <a:latin typeface="Microsoft YaHei" pitchFamily="34" charset="0"/>
                <a:ea typeface="Microsoft YaHei" pitchFamily="34" charset="-122"/>
                <a:cs typeface="Microsoft YaHei" pitchFamily="34" charset="-120"/>
              </a:rPr>
              <a:t>条件—过程—产物—意义—实验分析</a:t>
            </a:r>
            <a:endParaRPr lang="en-US" sz="3000" dirty="0"/>
          </a:p>
        </p:txBody>
      </p:sp>
      <p:sp>
        <p:nvSpPr>
          <p:cNvPr id="7" name="Text 5"/>
          <p:cNvSpPr/>
          <p:nvPr/>
        </p:nvSpPr>
        <p:spPr>
          <a:xfrm>
            <a:off x="868680" y="1783080"/>
            <a:ext cx="5852160" cy="457200"/>
          </a:xfrm>
          <a:prstGeom prst="rect">
            <a:avLst/>
          </a:prstGeom>
          <a:noFill/>
          <a:ln/>
        </p:spPr>
        <p:txBody>
          <a:bodyPr wrap="square" lIns="0" tIns="0" rIns="0" bIns="0" rtlCol="0" anchor="t">
            <a:normAutofit/>
          </a:bodyPr>
          <a:lstStyle/>
          <a:p>
            <a:pPr indent="0" marL="0">
              <a:buNone/>
            </a:pPr>
            <a:r>
              <a:rPr lang="en-US" sz="1600" dirty="0">
                <a:solidFill>
                  <a:srgbClr val="475569"/>
                </a:solidFill>
                <a:latin typeface="Microsoft YaHei" pitchFamily="34" charset="0"/>
                <a:ea typeface="Microsoft YaHei" pitchFamily="34" charset="-122"/>
                <a:cs typeface="Microsoft YaHei" pitchFamily="34" charset="-120"/>
              </a:rPr>
              <a:t>理解光合作用的条件、过程和生态意义，并能结合实验现象进行规范分析表达。</a:t>
            </a:r>
            <a:endParaRPr lang="en-US" sz="1600" dirty="0"/>
          </a:p>
        </p:txBody>
      </p:sp>
      <p:sp>
        <p:nvSpPr>
          <p:cNvPr id="8" name="Text 6"/>
          <p:cNvSpPr/>
          <p:nvPr/>
        </p:nvSpPr>
        <p:spPr>
          <a:xfrm>
            <a:off x="7388352" y="1865376"/>
            <a:ext cx="34655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导入思考</a:t>
            </a:r>
            <a:endParaRPr lang="en-US" sz="1200" dirty="0"/>
          </a:p>
        </p:txBody>
      </p:sp>
      <p:sp>
        <p:nvSpPr>
          <p:cNvPr id="9" name="Text 7"/>
          <p:cNvSpPr/>
          <p:nvPr/>
        </p:nvSpPr>
        <p:spPr>
          <a:xfrm>
            <a:off x="7388352" y="2157984"/>
            <a:ext cx="3465576" cy="127101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植物不像动物那样取食，它生长所需的有机物从哪里来？ 易错提醒：不要把光合作用简单理解为植物“晒太阳”，也不能只记住生成氧气而忽略有机物形成。</a:t>
            </a:r>
            <a:endParaRPr lang="en-US" sz="1100" dirty="0"/>
          </a:p>
        </p:txBody>
      </p:sp>
      <p:sp>
        <p:nvSpPr>
          <p:cNvPr id="10" name="Text 8"/>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课堂追问</a:t>
            </a:r>
            <a:endParaRPr lang="en-US" sz="1200" dirty="0"/>
          </a:p>
        </p:txBody>
      </p:sp>
      <p:sp>
        <p:nvSpPr>
          <p:cNvPr id="11" name="Text 9"/>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植物为什么被称为生态系统中的“生产者”？</a:t>
            </a:r>
            <a:endParaRPr lang="en-US" sz="1100" dirty="0"/>
          </a:p>
        </p:txBody>
      </p:sp>
      <p:sp>
        <p:nvSpPr>
          <p:cNvPr id="13" name="Shape 10"/>
          <p:cNvSpPr/>
          <p:nvPr/>
        </p:nvSpPr>
        <p:spPr>
          <a:xfrm>
            <a:off x="548640" y="6473952"/>
            <a:ext cx="11064240" cy="0"/>
          </a:xfrm>
          <a:prstGeom prst="line">
            <a:avLst/>
          </a:prstGeom>
          <a:noFill/>
          <a:ln w="12700">
            <a:solidFill>
              <a:srgbClr val="E5E7EB"/>
            </a:solidFill>
            <a:prstDash val="solid"/>
          </a:ln>
        </p:spPr>
      </p:sp>
      <p:sp>
        <p:nvSpPr>
          <p:cNvPr id="14" name="Text 11"/>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1/15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768096" y="1545336"/>
            <a:ext cx="10076688" cy="4636008"/>
          </a:xfrm>
          <a:prstGeom prst="roundRect">
            <a:avLst/>
          </a:prstGeom>
          <a:solidFill>
            <a:srgbClr val="FFFFFF"/>
          </a:solidFill>
          <a:ln w="12700">
            <a:solidFill>
              <a:srgbClr val="2E7D32"/>
            </a:solidFill>
            <a:prstDash val="solid"/>
          </a:ln>
        </p:spPr>
      </p:sp>
      <p:sp>
        <p:nvSpPr>
          <p:cNvPr id="6" name="Shape 4"/>
          <p:cNvSpPr/>
          <p:nvPr/>
        </p:nvSpPr>
        <p:spPr>
          <a:xfrm>
            <a:off x="822960" y="1645920"/>
            <a:ext cx="6400800" cy="4389120"/>
          </a:xfrm>
          <a:prstGeom prst="roundRect">
            <a:avLst/>
          </a:prstGeom>
          <a:solidFill>
            <a:srgbClr val="D1FAE5"/>
          </a:solidFill>
          <a:ln w="12700">
            <a:solidFill>
              <a:srgbClr val="81C784"/>
            </a:solidFill>
            <a:prstDash val="solid"/>
          </a:ln>
        </p:spPr>
      </p:sp>
      <p:sp>
        <p:nvSpPr>
          <p:cNvPr id="7" name="Shape 5"/>
          <p:cNvSpPr/>
          <p:nvPr/>
        </p:nvSpPr>
        <p:spPr>
          <a:xfrm>
            <a:off x="822960" y="1645920"/>
            <a:ext cx="6400800" cy="4389120"/>
          </a:xfrm>
          <a:prstGeom prst="roundRect">
            <a:avLst/>
          </a:prstGeom>
          <a:solidFill>
            <a:srgbClr val="FFEDD5"/>
          </a:solidFill>
          <a:ln w="12700">
            <a:solidFill>
              <a:srgbClr val="81C784"/>
            </a:solidFill>
            <a:prstDash val="solid"/>
          </a:ln>
        </p:spPr>
      </p:sp>
      <p:sp>
        <p:nvSpPr>
          <p:cNvPr id="8" name="Text 6"/>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本节课学习路径</a:t>
            </a:r>
            <a:endParaRPr lang="en-US" sz="2600" dirty="0"/>
          </a:p>
        </p:txBody>
      </p:sp>
      <p:sp>
        <p:nvSpPr>
          <p:cNvPr id="9" name="Text 7"/>
          <p:cNvSpPr/>
          <p:nvPr/>
        </p:nvSpPr>
        <p:spPr>
          <a:xfrm>
            <a:off x="914400" y="1691640"/>
            <a:ext cx="9784080" cy="4343400"/>
          </a:xfrm>
          <a:prstGeom prst="rect">
            <a:avLst/>
          </a:prstGeom>
          <a:noFill/>
          <a:ln/>
        </p:spPr>
        <p:txBody>
          <a:bodyPr wrap="square" lIns="0" tIns="0" rIns="0" bIns="0" rtlCol="0" anchor="t">
            <a:normAutofit/>
          </a:bodyPr>
          <a:lstStyle/>
          <a:p>
            <a:pPr indent="0" marL="0">
              <a:buNone/>
            </a:pPr>
            <a:r>
              <a:rPr lang="en-US" sz="1600" dirty="0">
                <a:solidFill>
                  <a:srgbClr val="1F2D1F"/>
                </a:solidFill>
                <a:latin typeface="Microsoft YaHei" pitchFamily="34" charset="0"/>
                <a:ea typeface="Microsoft YaHei" pitchFamily="34" charset="-122"/>
                <a:cs typeface="Microsoft YaHei" pitchFamily="34" charset="-120"/>
              </a:rPr>
              <a:t>• 光合作用的概念与本节主线</a:t>
            </a:r>
            <a:endParaRPr lang="en-US" sz="1600" dirty="0"/>
          </a:p>
          <a:p>
            <a:pPr indent="0" marL="0">
              <a:buNone/>
            </a:pPr>
            <a:r>
              <a:rPr lang="en-US" sz="1600" dirty="0">
                <a:solidFill>
                  <a:srgbClr val="1F2D1F"/>
                </a:solidFill>
                <a:latin typeface="Microsoft YaHei" pitchFamily="34" charset="0"/>
                <a:ea typeface="Microsoft YaHei" pitchFamily="34" charset="-122"/>
                <a:cs typeface="Microsoft YaHei" pitchFamily="34" charset="-120"/>
              </a:rPr>
              <a:t>• 光合作用需要哪些条件</a:t>
            </a:r>
            <a:endParaRPr lang="en-US" sz="1600" dirty="0"/>
          </a:p>
          <a:p>
            <a:pPr indent="0" marL="0">
              <a:buNone/>
            </a:pPr>
            <a:r>
              <a:rPr lang="en-US" sz="1600" dirty="0">
                <a:solidFill>
                  <a:srgbClr val="1F2D1F"/>
                </a:solidFill>
                <a:latin typeface="Microsoft YaHei" pitchFamily="34" charset="0"/>
                <a:ea typeface="Microsoft YaHei" pitchFamily="34" charset="-122"/>
                <a:cs typeface="Microsoft YaHei" pitchFamily="34" charset="-120"/>
              </a:rPr>
              <a:t>• 光合作用的过程与反应表达</a:t>
            </a:r>
            <a:endParaRPr lang="en-US" sz="1600" dirty="0"/>
          </a:p>
          <a:p>
            <a:pPr indent="0" marL="0">
              <a:buNone/>
            </a:pPr>
            <a:r>
              <a:rPr lang="en-US" sz="1600" dirty="0">
                <a:solidFill>
                  <a:srgbClr val="1F2D1F"/>
                </a:solidFill>
                <a:latin typeface="Microsoft YaHei" pitchFamily="34" charset="0"/>
                <a:ea typeface="Microsoft YaHei" pitchFamily="34" charset="-122"/>
                <a:cs typeface="Microsoft YaHei" pitchFamily="34" charset="-120"/>
              </a:rPr>
              <a:t>• 光合作用的产物及生态意义</a:t>
            </a:r>
            <a:endParaRPr lang="en-US" sz="1600" dirty="0"/>
          </a:p>
          <a:p>
            <a:pPr indent="0" marL="0">
              <a:buNone/>
            </a:pPr>
            <a:r>
              <a:rPr lang="en-US" sz="1600" dirty="0">
                <a:solidFill>
                  <a:srgbClr val="1F2D1F"/>
                </a:solidFill>
                <a:latin typeface="Microsoft YaHei" pitchFamily="34" charset="0"/>
                <a:ea typeface="Microsoft YaHei" pitchFamily="34" charset="-122"/>
                <a:cs typeface="Microsoft YaHei" pitchFamily="34" charset="-120"/>
              </a:rPr>
              <a:t>• 实验现象分析与题型突破</a:t>
            </a:r>
            <a:endParaRPr lang="en-US" sz="1600" dirty="0"/>
          </a:p>
          <a:p>
            <a:pPr indent="0" marL="0">
              <a:buNone/>
            </a:pPr>
            <a:r>
              <a:rPr lang="en-US" sz="1600" dirty="0">
                <a:solidFill>
                  <a:srgbClr val="1F2D1F"/>
                </a:solidFill>
                <a:latin typeface="Microsoft YaHei" pitchFamily="34" charset="0"/>
                <a:ea typeface="Microsoft YaHei" pitchFamily="34" charset="-122"/>
                <a:cs typeface="Microsoft YaHei" pitchFamily="34" charset="-120"/>
              </a:rPr>
              <a:t>• 课堂总结与巩固</a:t>
            </a:r>
            <a:endParaRPr lang="en-US" sz="1600" dirty="0"/>
          </a:p>
        </p:txBody>
      </p:sp>
      <p:sp>
        <p:nvSpPr>
          <p:cNvPr id="10" name="Text 8"/>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学习路径提示</a:t>
            </a:r>
            <a:endParaRPr lang="en-US" sz="1200" dirty="0"/>
          </a:p>
        </p:txBody>
      </p:sp>
      <p:sp>
        <p:nvSpPr>
          <p:cNvPr id="11" name="Text 9"/>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先回答“什么是光合作用”，再分析“需要什么条件”，最后用实验现象解决题目。 易错提醒：不要只背定义而忽视条件、过程和实验之间的联系。</a:t>
            </a:r>
            <a:endParaRPr lang="en-US" sz="1100" dirty="0"/>
          </a:p>
        </p:txBody>
      </p:sp>
      <p:sp>
        <p:nvSpPr>
          <p:cNvPr id="12" name="Text 10"/>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先行思考</a:t>
            </a:r>
            <a:endParaRPr lang="en-US" sz="1200" dirty="0"/>
          </a:p>
        </p:txBody>
      </p:sp>
      <p:sp>
        <p:nvSpPr>
          <p:cNvPr id="13" name="Text 11"/>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这节课我们会按怎样的顺序把光合作用学清楚？</a:t>
            </a:r>
            <a:endParaRPr lang="en-US" sz="1100" dirty="0"/>
          </a:p>
        </p:txBody>
      </p:sp>
      <p:sp>
        <p:nvSpPr>
          <p:cNvPr id="15" name="Shape 12"/>
          <p:cNvSpPr/>
          <p:nvPr/>
        </p:nvSpPr>
        <p:spPr>
          <a:xfrm>
            <a:off x="548640" y="6473952"/>
            <a:ext cx="11064240" cy="0"/>
          </a:xfrm>
          <a:prstGeom prst="line">
            <a:avLst/>
          </a:prstGeom>
          <a:noFill/>
          <a:ln w="12700">
            <a:solidFill>
              <a:srgbClr val="E5E7EB"/>
            </a:solidFill>
            <a:prstDash val="solid"/>
          </a:ln>
        </p:spPr>
      </p:sp>
      <p:sp>
        <p:nvSpPr>
          <p:cNvPr id="16" name="Text 13"/>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2/15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440680"/>
            <a:ext cx="10195560" cy="685800"/>
          </a:xfrm>
          <a:prstGeom prst="roundRect">
            <a:avLst/>
          </a:prstGeom>
          <a:solidFill>
            <a:srgbClr val="D1FAE5"/>
          </a:solidFill>
          <a:ln w="12700">
            <a:solidFill>
              <a:srgbClr val="81C784"/>
            </a:solidFill>
            <a:prstDash val="solid"/>
          </a:ln>
        </p:spPr>
      </p:sp>
      <p:sp>
        <p:nvSpPr>
          <p:cNvPr id="6" name="Shape 4"/>
          <p:cNvSpPr/>
          <p:nvPr/>
        </p:nvSpPr>
        <p:spPr>
          <a:xfrm>
            <a:off x="822960" y="1645920"/>
            <a:ext cx="6400800" cy="4389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光合作用是绿色植物在光能作用下，把二氧化碳和水转变成有机物并释放氧气的过程。</a:t>
            </a:r>
            <a:endParaRPr lang="en-US" sz="2600" dirty="0"/>
          </a:p>
        </p:txBody>
      </p:sp>
      <p:sp>
        <p:nvSpPr>
          <p:cNvPr id="8" name="Shape 6"/>
          <p:cNvSpPr/>
          <p:nvPr/>
        </p:nvSpPr>
        <p:spPr>
          <a:xfrm>
            <a:off x="868680" y="1645920"/>
            <a:ext cx="3252216" cy="1705356"/>
          </a:xfrm>
          <a:prstGeom prst="roundRect">
            <a:avLst/>
          </a:prstGeom>
          <a:solidFill>
            <a:srgbClr val="FFFFFF"/>
          </a:solidFill>
          <a:ln w="12700">
            <a:solidFill>
              <a:srgbClr val="2E7D32"/>
            </a:solidFill>
            <a:prstDash val="solid"/>
          </a:ln>
        </p:spPr>
      </p:sp>
      <p:sp>
        <p:nvSpPr>
          <p:cNvPr id="9" name="Text 7"/>
          <p:cNvSpPr/>
          <p:nvPr/>
        </p:nvSpPr>
        <p:spPr>
          <a:xfrm>
            <a:off x="1033272" y="1810512"/>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条件：光能作用下</a:t>
            </a:r>
            <a:endParaRPr lang="en-US" sz="1300" dirty="0"/>
          </a:p>
        </p:txBody>
      </p:sp>
      <p:sp>
        <p:nvSpPr>
          <p:cNvPr id="10" name="Shape 8"/>
          <p:cNvSpPr/>
          <p:nvPr/>
        </p:nvSpPr>
        <p:spPr>
          <a:xfrm>
            <a:off x="4340352" y="1645920"/>
            <a:ext cx="3252216" cy="1705356"/>
          </a:xfrm>
          <a:prstGeom prst="roundRect">
            <a:avLst/>
          </a:prstGeom>
          <a:solidFill>
            <a:srgbClr val="FFFFFF"/>
          </a:solidFill>
          <a:ln w="12700">
            <a:solidFill>
              <a:srgbClr val="2E7D32"/>
            </a:solidFill>
            <a:prstDash val="solid"/>
          </a:ln>
        </p:spPr>
      </p:sp>
      <p:sp>
        <p:nvSpPr>
          <p:cNvPr id="11" name="Text 9"/>
          <p:cNvSpPr/>
          <p:nvPr/>
        </p:nvSpPr>
        <p:spPr>
          <a:xfrm>
            <a:off x="4504944" y="1810512"/>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原料：二氧化碳、水</a:t>
            </a:r>
            <a:endParaRPr lang="en-US" sz="1300" dirty="0"/>
          </a:p>
        </p:txBody>
      </p:sp>
      <p:sp>
        <p:nvSpPr>
          <p:cNvPr id="12" name="Shape 10"/>
          <p:cNvSpPr/>
          <p:nvPr/>
        </p:nvSpPr>
        <p:spPr>
          <a:xfrm>
            <a:off x="7812024" y="1645920"/>
            <a:ext cx="3252216" cy="1705356"/>
          </a:xfrm>
          <a:prstGeom prst="roundRect">
            <a:avLst/>
          </a:prstGeom>
          <a:solidFill>
            <a:srgbClr val="FFFFFF"/>
          </a:solidFill>
          <a:ln w="12700">
            <a:solidFill>
              <a:srgbClr val="2E7D32"/>
            </a:solidFill>
            <a:prstDash val="solid"/>
          </a:ln>
        </p:spPr>
      </p:sp>
      <p:sp>
        <p:nvSpPr>
          <p:cNvPr id="13" name="Text 11"/>
          <p:cNvSpPr/>
          <p:nvPr/>
        </p:nvSpPr>
        <p:spPr>
          <a:xfrm>
            <a:off x="7976616" y="1810512"/>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产物：有机物、氧气</a:t>
            </a:r>
            <a:endParaRPr lang="en-US" sz="1300" dirty="0"/>
          </a:p>
        </p:txBody>
      </p:sp>
      <p:sp>
        <p:nvSpPr>
          <p:cNvPr id="14" name="Shape 12"/>
          <p:cNvSpPr/>
          <p:nvPr/>
        </p:nvSpPr>
        <p:spPr>
          <a:xfrm>
            <a:off x="868680" y="3552444"/>
            <a:ext cx="3252216" cy="1705356"/>
          </a:xfrm>
          <a:prstGeom prst="roundRect">
            <a:avLst/>
          </a:prstGeom>
          <a:solidFill>
            <a:srgbClr val="FFFFFF"/>
          </a:solidFill>
          <a:ln w="12700">
            <a:solidFill>
              <a:srgbClr val="2E7D32"/>
            </a:solidFill>
            <a:prstDash val="solid"/>
          </a:ln>
        </p:spPr>
      </p:sp>
      <p:sp>
        <p:nvSpPr>
          <p:cNvPr id="15" name="Text 13"/>
          <p:cNvSpPr/>
          <p:nvPr/>
        </p:nvSpPr>
        <p:spPr>
          <a:xfrm>
            <a:off x="1033272" y="3717036"/>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发生部位：绿色部分，含叶绿体</a:t>
            </a:r>
            <a:endParaRPr lang="en-US" sz="1300" dirty="0"/>
          </a:p>
        </p:txBody>
      </p:sp>
      <p:sp>
        <p:nvSpPr>
          <p:cNvPr id="16" name="Text 14"/>
          <p:cNvSpPr/>
          <p:nvPr/>
        </p:nvSpPr>
        <p:spPr>
          <a:xfrm>
            <a:off x="1033272" y="556869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例子与提醒</a:t>
            </a:r>
            <a:endParaRPr lang="en-US" sz="1200" dirty="0"/>
          </a:p>
        </p:txBody>
      </p:sp>
      <p:sp>
        <p:nvSpPr>
          <p:cNvPr id="17" name="Text 15"/>
          <p:cNvSpPr/>
          <p:nvPr/>
        </p:nvSpPr>
        <p:spPr>
          <a:xfrm>
            <a:off x="1033272" y="586130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例如，绿色植物在阳光下能利用空气中的二氧化碳和根吸收的水制造淀粉等有机物，同时释放氧气。 易错：把“光能”误写成产物；只记住氧气，忽略有机物；把二氧化碳和氧气角色写反。</a:t>
            </a:r>
            <a:endParaRPr lang="en-US" sz="1100" dirty="0"/>
          </a:p>
        </p:txBody>
      </p:sp>
      <p:sp>
        <p:nvSpPr>
          <p:cNvPr id="18" name="Text 16"/>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课堂追问</a:t>
            </a:r>
            <a:endParaRPr lang="en-US" sz="1200" dirty="0"/>
          </a:p>
        </p:txBody>
      </p:sp>
      <p:sp>
        <p:nvSpPr>
          <p:cNvPr id="19" name="Text 17"/>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请把定义里的关键词圈出来：哪些属于条件，哪些属于原料，哪些属于产物？</a:t>
            </a:r>
            <a:endParaRPr lang="en-US" sz="1100" dirty="0"/>
          </a:p>
        </p:txBody>
      </p:sp>
      <p:sp>
        <p:nvSpPr>
          <p:cNvPr id="21" name="Shape 18"/>
          <p:cNvSpPr/>
          <p:nvPr/>
        </p:nvSpPr>
        <p:spPr>
          <a:xfrm>
            <a:off x="548640" y="6473952"/>
            <a:ext cx="11064240" cy="0"/>
          </a:xfrm>
          <a:prstGeom prst="line">
            <a:avLst/>
          </a:prstGeom>
          <a:noFill/>
          <a:ln w="12700">
            <a:solidFill>
              <a:srgbClr val="E5E7EB"/>
            </a:solidFill>
            <a:prstDash val="solid"/>
          </a:ln>
        </p:spPr>
      </p:sp>
      <p:sp>
        <p:nvSpPr>
          <p:cNvPr id="22" name="Text 19"/>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3/15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4206240"/>
            <a:ext cx="6446520" cy="960120"/>
          </a:xfrm>
          <a:prstGeom prst="roundRect">
            <a:avLst/>
          </a:prstGeom>
          <a:solidFill>
            <a:srgbClr val="D1FAE5"/>
          </a:solidFill>
          <a:ln w="12700">
            <a:solidFill>
              <a:srgbClr val="81C784"/>
            </a:solidFill>
            <a:prstDash val="solid"/>
          </a:ln>
        </p:spPr>
      </p:sp>
      <p:sp>
        <p:nvSpPr>
          <p:cNvPr id="6" name="Shape 4"/>
          <p:cNvSpPr/>
          <p:nvPr/>
        </p:nvSpPr>
        <p:spPr>
          <a:xfrm>
            <a:off x="7635240" y="4206240"/>
            <a:ext cx="3429000" cy="960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光合作用定义的拆解与判断</a:t>
            </a:r>
            <a:endParaRPr lang="en-US" sz="2600" dirty="0"/>
          </a:p>
        </p:txBody>
      </p:sp>
      <p:sp>
        <p:nvSpPr>
          <p:cNvPr id="8" name="Shape 6"/>
          <p:cNvSpPr/>
          <p:nvPr/>
        </p:nvSpPr>
        <p:spPr>
          <a:xfrm>
            <a:off x="868680" y="1645920"/>
            <a:ext cx="3252216" cy="973836"/>
          </a:xfrm>
          <a:prstGeom prst="roundRect">
            <a:avLst/>
          </a:prstGeom>
          <a:solidFill>
            <a:srgbClr val="FFFFFF"/>
          </a:solidFill>
          <a:ln w="12700">
            <a:solidFill>
              <a:srgbClr val="2E7D32"/>
            </a:solidFill>
            <a:prstDash val="solid"/>
          </a:ln>
        </p:spPr>
      </p:sp>
      <p:sp>
        <p:nvSpPr>
          <p:cNvPr id="9" name="Text 7"/>
          <p:cNvSpPr/>
          <p:nvPr/>
        </p:nvSpPr>
        <p:spPr>
          <a:xfrm>
            <a:off x="1033272"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要有绿色部分或叶绿体</a:t>
            </a:r>
            <a:endParaRPr lang="en-US" sz="1300" dirty="0"/>
          </a:p>
        </p:txBody>
      </p:sp>
      <p:sp>
        <p:nvSpPr>
          <p:cNvPr id="10" name="Shape 8"/>
          <p:cNvSpPr/>
          <p:nvPr/>
        </p:nvSpPr>
        <p:spPr>
          <a:xfrm>
            <a:off x="4340352" y="1645920"/>
            <a:ext cx="3252216" cy="973836"/>
          </a:xfrm>
          <a:prstGeom prst="roundRect">
            <a:avLst/>
          </a:prstGeom>
          <a:solidFill>
            <a:srgbClr val="FFFFFF"/>
          </a:solidFill>
          <a:ln w="12700">
            <a:solidFill>
              <a:srgbClr val="2E7D32"/>
            </a:solidFill>
            <a:prstDash val="solid"/>
          </a:ln>
        </p:spPr>
      </p:sp>
      <p:sp>
        <p:nvSpPr>
          <p:cNvPr id="11" name="Text 9"/>
          <p:cNvSpPr/>
          <p:nvPr/>
        </p:nvSpPr>
        <p:spPr>
          <a:xfrm>
            <a:off x="4504944"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要有光照</a:t>
            </a:r>
            <a:endParaRPr lang="en-US" sz="1300" dirty="0"/>
          </a:p>
        </p:txBody>
      </p:sp>
      <p:sp>
        <p:nvSpPr>
          <p:cNvPr id="12" name="Shape 10"/>
          <p:cNvSpPr/>
          <p:nvPr/>
        </p:nvSpPr>
        <p:spPr>
          <a:xfrm>
            <a:off x="7812024" y="1645920"/>
            <a:ext cx="3252216" cy="973836"/>
          </a:xfrm>
          <a:prstGeom prst="roundRect">
            <a:avLst/>
          </a:prstGeom>
          <a:solidFill>
            <a:srgbClr val="FFFFFF"/>
          </a:solidFill>
          <a:ln w="12700">
            <a:solidFill>
              <a:srgbClr val="2E7D32"/>
            </a:solidFill>
            <a:prstDash val="solid"/>
          </a:ln>
        </p:spPr>
      </p:sp>
      <p:sp>
        <p:nvSpPr>
          <p:cNvPr id="13" name="Text 11"/>
          <p:cNvSpPr/>
          <p:nvPr/>
        </p:nvSpPr>
        <p:spPr>
          <a:xfrm>
            <a:off x="7976616"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要有二氧化碳和水</a:t>
            </a:r>
            <a:endParaRPr lang="en-US" sz="1300" dirty="0"/>
          </a:p>
        </p:txBody>
      </p:sp>
      <p:sp>
        <p:nvSpPr>
          <p:cNvPr id="14" name="Shape 12"/>
          <p:cNvSpPr/>
          <p:nvPr/>
        </p:nvSpPr>
        <p:spPr>
          <a:xfrm>
            <a:off x="868680" y="2820924"/>
            <a:ext cx="3252216" cy="973836"/>
          </a:xfrm>
          <a:prstGeom prst="roundRect">
            <a:avLst/>
          </a:prstGeom>
          <a:solidFill>
            <a:srgbClr val="FFFFFF"/>
          </a:solidFill>
          <a:ln w="12700">
            <a:solidFill>
              <a:srgbClr val="2E7D32"/>
            </a:solidFill>
            <a:prstDash val="solid"/>
          </a:ln>
        </p:spPr>
      </p:sp>
      <p:sp>
        <p:nvSpPr>
          <p:cNvPr id="15" name="Text 13"/>
          <p:cNvSpPr/>
          <p:nvPr/>
        </p:nvSpPr>
        <p:spPr>
          <a:xfrm>
            <a:off x="1033272" y="2985516"/>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表达时要写完整的条件—原料—产物链</a:t>
            </a:r>
            <a:endParaRPr lang="en-US" sz="1300" dirty="0"/>
          </a:p>
        </p:txBody>
      </p:sp>
      <p:sp>
        <p:nvSpPr>
          <p:cNvPr id="16" name="Shape 14"/>
          <p:cNvSpPr/>
          <p:nvPr/>
        </p:nvSpPr>
        <p:spPr>
          <a:xfrm>
            <a:off x="868680" y="1645920"/>
            <a:ext cx="3252216" cy="2148840"/>
          </a:xfrm>
          <a:prstGeom prst="roundRect">
            <a:avLst/>
          </a:prstGeom>
          <a:solidFill>
            <a:srgbClr val="FFFFFF"/>
          </a:solidFill>
          <a:ln w="12700">
            <a:solidFill>
              <a:srgbClr val="81C784"/>
            </a:solidFill>
            <a:prstDash val="solid"/>
          </a:ln>
        </p:spPr>
      </p:sp>
      <p:sp>
        <p:nvSpPr>
          <p:cNvPr id="17" name="Text 15"/>
          <p:cNvSpPr/>
          <p:nvPr/>
        </p:nvSpPr>
        <p:spPr>
          <a:xfrm>
            <a:off x="1033272" y="1847088"/>
            <a:ext cx="2923032" cy="17830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绿色叶片见光：一般能进行光合作用</a:t>
            </a:r>
            <a:endParaRPr lang="en-US" sz="1300" dirty="0"/>
          </a:p>
        </p:txBody>
      </p:sp>
      <p:sp>
        <p:nvSpPr>
          <p:cNvPr id="18" name="Shape 16"/>
          <p:cNvSpPr/>
          <p:nvPr/>
        </p:nvSpPr>
        <p:spPr>
          <a:xfrm>
            <a:off x="4340352" y="1645920"/>
            <a:ext cx="3252216" cy="2148840"/>
          </a:xfrm>
          <a:prstGeom prst="roundRect">
            <a:avLst/>
          </a:prstGeom>
          <a:solidFill>
            <a:srgbClr val="FFEDD5"/>
          </a:solidFill>
          <a:ln w="12700">
            <a:solidFill>
              <a:srgbClr val="81C784"/>
            </a:solidFill>
            <a:prstDash val="solid"/>
          </a:ln>
        </p:spPr>
      </p:sp>
      <p:sp>
        <p:nvSpPr>
          <p:cNvPr id="19" name="Text 17"/>
          <p:cNvSpPr/>
          <p:nvPr/>
        </p:nvSpPr>
        <p:spPr>
          <a:xfrm>
            <a:off x="4504944" y="1847088"/>
            <a:ext cx="2923032" cy="17830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植物的根见光：通常不能进行光合作用</a:t>
            </a:r>
            <a:endParaRPr lang="en-US" sz="1300" dirty="0"/>
          </a:p>
        </p:txBody>
      </p:sp>
      <p:sp>
        <p:nvSpPr>
          <p:cNvPr id="20" name="Shape 18"/>
          <p:cNvSpPr/>
          <p:nvPr/>
        </p:nvSpPr>
        <p:spPr>
          <a:xfrm>
            <a:off x="7812024" y="1645920"/>
            <a:ext cx="3252216" cy="2148840"/>
          </a:xfrm>
          <a:prstGeom prst="roundRect">
            <a:avLst/>
          </a:prstGeom>
          <a:solidFill>
            <a:srgbClr val="FFFFFF"/>
          </a:solidFill>
          <a:ln w="12700">
            <a:solidFill>
              <a:srgbClr val="81C784"/>
            </a:solidFill>
            <a:prstDash val="solid"/>
          </a:ln>
        </p:spPr>
      </p:sp>
      <p:sp>
        <p:nvSpPr>
          <p:cNvPr id="21" name="Text 19"/>
          <p:cNvSpPr/>
          <p:nvPr/>
        </p:nvSpPr>
        <p:spPr>
          <a:xfrm>
            <a:off x="7976616" y="1847088"/>
            <a:ext cx="2923032" cy="17830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叶片无二氧化碳：不能正常进行光合作用</a:t>
            </a:r>
            <a:endParaRPr lang="en-US" sz="1300" dirty="0"/>
          </a:p>
        </p:txBody>
      </p:sp>
      <p:sp>
        <p:nvSpPr>
          <p:cNvPr id="22" name="Text 20"/>
          <p:cNvSpPr/>
          <p:nvPr/>
        </p:nvSpPr>
        <p:spPr>
          <a:xfrm>
            <a:off x="1033272" y="4334256"/>
            <a:ext cx="611733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典型例子与易错点</a:t>
            </a:r>
            <a:endParaRPr lang="en-US" sz="1200" dirty="0"/>
          </a:p>
        </p:txBody>
      </p:sp>
      <p:sp>
        <p:nvSpPr>
          <p:cNvPr id="23" name="Text 21"/>
          <p:cNvSpPr/>
          <p:nvPr/>
        </p:nvSpPr>
        <p:spPr>
          <a:xfrm>
            <a:off x="1033272" y="4626864"/>
            <a:ext cx="6117336" cy="448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例如，植物根一般不含叶绿体，即使有水也不能像绿色叶片那样进行光合作用。 易错：认为植物所有器官都能光合作用；认为只要有光就一定能进行光合作用；答题时只写“释放氧气”漏掉“制造有机物”。</a:t>
            </a:r>
            <a:endParaRPr lang="en-US" sz="1100" dirty="0"/>
          </a:p>
        </p:txBody>
      </p:sp>
      <p:sp>
        <p:nvSpPr>
          <p:cNvPr id="24" name="Text 22"/>
          <p:cNvSpPr/>
          <p:nvPr/>
        </p:nvSpPr>
        <p:spPr>
          <a:xfrm>
            <a:off x="7799832" y="4334256"/>
            <a:ext cx="30998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判断追问</a:t>
            </a:r>
            <a:endParaRPr lang="en-US" sz="1200" dirty="0"/>
          </a:p>
        </p:txBody>
      </p:sp>
      <p:sp>
        <p:nvSpPr>
          <p:cNvPr id="25" name="Text 23"/>
          <p:cNvSpPr/>
          <p:nvPr/>
        </p:nvSpPr>
        <p:spPr>
          <a:xfrm>
            <a:off x="7799832" y="4626864"/>
            <a:ext cx="3099816" cy="448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如果一株植物放在光下，但没有二氧化碳，它能不能进行光合作用？为什么不能只看到“有光”就下结论？</a:t>
            </a:r>
            <a:endParaRPr lang="en-US" sz="1100" dirty="0"/>
          </a:p>
        </p:txBody>
      </p:sp>
      <p:sp>
        <p:nvSpPr>
          <p:cNvPr id="27" name="Shape 24"/>
          <p:cNvSpPr/>
          <p:nvPr/>
        </p:nvSpPr>
        <p:spPr>
          <a:xfrm>
            <a:off x="548640" y="6473952"/>
            <a:ext cx="11064240" cy="0"/>
          </a:xfrm>
          <a:prstGeom prst="line">
            <a:avLst/>
          </a:prstGeom>
          <a:noFill/>
          <a:ln w="12700">
            <a:solidFill>
              <a:srgbClr val="E5E7EB"/>
            </a:solidFill>
            <a:prstDash val="solid"/>
          </a:ln>
        </p:spPr>
      </p:sp>
      <p:sp>
        <p:nvSpPr>
          <p:cNvPr id="28" name="Text 25"/>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4/15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4206240"/>
            <a:ext cx="6446520" cy="960120"/>
          </a:xfrm>
          <a:prstGeom prst="roundRect">
            <a:avLst/>
          </a:prstGeom>
          <a:solidFill>
            <a:srgbClr val="D1FAE5"/>
          </a:solidFill>
          <a:ln w="12700">
            <a:solidFill>
              <a:srgbClr val="81C784"/>
            </a:solidFill>
            <a:prstDash val="solid"/>
          </a:ln>
        </p:spPr>
      </p:sp>
      <p:sp>
        <p:nvSpPr>
          <p:cNvPr id="6" name="Shape 4"/>
          <p:cNvSpPr/>
          <p:nvPr/>
        </p:nvSpPr>
        <p:spPr>
          <a:xfrm>
            <a:off x="7635240" y="4206240"/>
            <a:ext cx="3429000" cy="960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光合作用需要哪些条件</a:t>
            </a:r>
            <a:endParaRPr lang="en-US" sz="2600" dirty="0"/>
          </a:p>
        </p:txBody>
      </p:sp>
      <p:sp>
        <p:nvSpPr>
          <p:cNvPr id="8" name="Shape 6"/>
          <p:cNvSpPr/>
          <p:nvPr/>
        </p:nvSpPr>
        <p:spPr>
          <a:xfrm>
            <a:off x="868680" y="1645920"/>
            <a:ext cx="3252216" cy="973836"/>
          </a:xfrm>
          <a:prstGeom prst="roundRect">
            <a:avLst/>
          </a:prstGeom>
          <a:solidFill>
            <a:srgbClr val="FFFFFF"/>
          </a:solidFill>
          <a:ln w="12700">
            <a:solidFill>
              <a:srgbClr val="2E7D32"/>
            </a:solidFill>
            <a:prstDash val="solid"/>
          </a:ln>
        </p:spPr>
      </p:sp>
      <p:sp>
        <p:nvSpPr>
          <p:cNvPr id="9" name="Text 7"/>
          <p:cNvSpPr/>
          <p:nvPr/>
        </p:nvSpPr>
        <p:spPr>
          <a:xfrm>
            <a:off x="1033272"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光照：重要外界条件</a:t>
            </a:r>
            <a:endParaRPr lang="en-US" sz="1300" dirty="0"/>
          </a:p>
        </p:txBody>
      </p:sp>
      <p:sp>
        <p:nvSpPr>
          <p:cNvPr id="10" name="Shape 8"/>
          <p:cNvSpPr/>
          <p:nvPr/>
        </p:nvSpPr>
        <p:spPr>
          <a:xfrm>
            <a:off x="4340352" y="1645920"/>
            <a:ext cx="3252216" cy="973836"/>
          </a:xfrm>
          <a:prstGeom prst="roundRect">
            <a:avLst/>
          </a:prstGeom>
          <a:solidFill>
            <a:srgbClr val="FFFFFF"/>
          </a:solidFill>
          <a:ln w="12700">
            <a:solidFill>
              <a:srgbClr val="2E7D32"/>
            </a:solidFill>
            <a:prstDash val="solid"/>
          </a:ln>
        </p:spPr>
      </p:sp>
      <p:sp>
        <p:nvSpPr>
          <p:cNvPr id="11" name="Text 9"/>
          <p:cNvSpPr/>
          <p:nvPr/>
        </p:nvSpPr>
        <p:spPr>
          <a:xfrm>
            <a:off x="4504944"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二氧化碳：必需原料</a:t>
            </a:r>
            <a:endParaRPr lang="en-US" sz="1300" dirty="0"/>
          </a:p>
        </p:txBody>
      </p:sp>
      <p:sp>
        <p:nvSpPr>
          <p:cNvPr id="12" name="Shape 10"/>
          <p:cNvSpPr/>
          <p:nvPr/>
        </p:nvSpPr>
        <p:spPr>
          <a:xfrm>
            <a:off x="7812024" y="1645920"/>
            <a:ext cx="3252216" cy="973836"/>
          </a:xfrm>
          <a:prstGeom prst="roundRect">
            <a:avLst/>
          </a:prstGeom>
          <a:solidFill>
            <a:srgbClr val="FFFFFF"/>
          </a:solidFill>
          <a:ln w="12700">
            <a:solidFill>
              <a:srgbClr val="2E7D32"/>
            </a:solidFill>
            <a:prstDash val="solid"/>
          </a:ln>
        </p:spPr>
      </p:sp>
      <p:sp>
        <p:nvSpPr>
          <p:cNvPr id="13" name="Text 11"/>
          <p:cNvSpPr/>
          <p:nvPr/>
        </p:nvSpPr>
        <p:spPr>
          <a:xfrm>
            <a:off x="7976616"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水：必需原料</a:t>
            </a:r>
            <a:endParaRPr lang="en-US" sz="1300" dirty="0"/>
          </a:p>
        </p:txBody>
      </p:sp>
      <p:sp>
        <p:nvSpPr>
          <p:cNvPr id="14" name="Shape 12"/>
          <p:cNvSpPr/>
          <p:nvPr/>
        </p:nvSpPr>
        <p:spPr>
          <a:xfrm>
            <a:off x="868680" y="2820924"/>
            <a:ext cx="3252216" cy="973836"/>
          </a:xfrm>
          <a:prstGeom prst="roundRect">
            <a:avLst/>
          </a:prstGeom>
          <a:solidFill>
            <a:srgbClr val="FFFFFF"/>
          </a:solidFill>
          <a:ln w="12700">
            <a:solidFill>
              <a:srgbClr val="2E7D32"/>
            </a:solidFill>
            <a:prstDash val="solid"/>
          </a:ln>
        </p:spPr>
      </p:sp>
      <p:sp>
        <p:nvSpPr>
          <p:cNvPr id="15" name="Text 13"/>
          <p:cNvSpPr/>
          <p:nvPr/>
        </p:nvSpPr>
        <p:spPr>
          <a:xfrm>
            <a:off x="1033272" y="2985516"/>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叶绿体/绿色部分：重要内部条件</a:t>
            </a:r>
            <a:endParaRPr lang="en-US" sz="1300" dirty="0"/>
          </a:p>
        </p:txBody>
      </p:sp>
      <p:sp>
        <p:nvSpPr>
          <p:cNvPr id="16" name="Shape 14"/>
          <p:cNvSpPr/>
          <p:nvPr/>
        </p:nvSpPr>
        <p:spPr>
          <a:xfrm>
            <a:off x="868680" y="1645920"/>
            <a:ext cx="3252216" cy="2148840"/>
          </a:xfrm>
          <a:prstGeom prst="roundRect">
            <a:avLst/>
          </a:prstGeom>
          <a:solidFill>
            <a:srgbClr val="FFFFFF"/>
          </a:solidFill>
          <a:ln w="12700">
            <a:solidFill>
              <a:srgbClr val="81C784"/>
            </a:solidFill>
            <a:prstDash val="solid"/>
          </a:ln>
        </p:spPr>
      </p:sp>
      <p:sp>
        <p:nvSpPr>
          <p:cNvPr id="17" name="Text 15"/>
          <p:cNvSpPr/>
          <p:nvPr/>
        </p:nvSpPr>
        <p:spPr>
          <a:xfrm>
            <a:off x="1033272" y="1847088"/>
            <a:ext cx="2923032" cy="17830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无光：不能正常进行光合作用</a:t>
            </a:r>
            <a:endParaRPr lang="en-US" sz="1300" dirty="0"/>
          </a:p>
        </p:txBody>
      </p:sp>
      <p:sp>
        <p:nvSpPr>
          <p:cNvPr id="18" name="Shape 16"/>
          <p:cNvSpPr/>
          <p:nvPr/>
        </p:nvSpPr>
        <p:spPr>
          <a:xfrm>
            <a:off x="4340352" y="1645920"/>
            <a:ext cx="3252216" cy="2148840"/>
          </a:xfrm>
          <a:prstGeom prst="roundRect">
            <a:avLst/>
          </a:prstGeom>
          <a:solidFill>
            <a:srgbClr val="FFEDD5"/>
          </a:solidFill>
          <a:ln w="12700">
            <a:solidFill>
              <a:srgbClr val="81C784"/>
            </a:solidFill>
            <a:prstDash val="solid"/>
          </a:ln>
        </p:spPr>
      </p:sp>
      <p:sp>
        <p:nvSpPr>
          <p:cNvPr id="19" name="Text 17"/>
          <p:cNvSpPr/>
          <p:nvPr/>
        </p:nvSpPr>
        <p:spPr>
          <a:xfrm>
            <a:off x="4504944" y="1847088"/>
            <a:ext cx="2923032" cy="17830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无二氧化碳：不能形成有机物</a:t>
            </a:r>
            <a:endParaRPr lang="en-US" sz="1300" dirty="0"/>
          </a:p>
        </p:txBody>
      </p:sp>
      <p:sp>
        <p:nvSpPr>
          <p:cNvPr id="20" name="Shape 18"/>
          <p:cNvSpPr/>
          <p:nvPr/>
        </p:nvSpPr>
        <p:spPr>
          <a:xfrm>
            <a:off x="7812024" y="1645920"/>
            <a:ext cx="3252216" cy="2148840"/>
          </a:xfrm>
          <a:prstGeom prst="roundRect">
            <a:avLst/>
          </a:prstGeom>
          <a:solidFill>
            <a:srgbClr val="FFFFFF"/>
          </a:solidFill>
          <a:ln w="12700">
            <a:solidFill>
              <a:srgbClr val="81C784"/>
            </a:solidFill>
            <a:prstDash val="solid"/>
          </a:ln>
        </p:spPr>
      </p:sp>
      <p:sp>
        <p:nvSpPr>
          <p:cNvPr id="21" name="Text 19"/>
          <p:cNvSpPr/>
          <p:nvPr/>
        </p:nvSpPr>
        <p:spPr>
          <a:xfrm>
            <a:off x="7976616" y="1847088"/>
            <a:ext cx="2923032" cy="17830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无水：光合作用受影响</a:t>
            </a:r>
            <a:endParaRPr lang="en-US" sz="1300" dirty="0"/>
          </a:p>
        </p:txBody>
      </p:sp>
      <p:sp>
        <p:nvSpPr>
          <p:cNvPr id="22" name="Text 20"/>
          <p:cNvSpPr/>
          <p:nvPr/>
        </p:nvSpPr>
        <p:spPr>
          <a:xfrm>
            <a:off x="1033272" y="4334256"/>
            <a:ext cx="611733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实验例证</a:t>
            </a:r>
            <a:endParaRPr lang="en-US" sz="1200" dirty="0"/>
          </a:p>
        </p:txBody>
      </p:sp>
      <p:sp>
        <p:nvSpPr>
          <p:cNvPr id="23" name="Text 21"/>
          <p:cNvSpPr/>
          <p:nvPr/>
        </p:nvSpPr>
        <p:spPr>
          <a:xfrm>
            <a:off x="1033272" y="4626864"/>
            <a:ext cx="6117336" cy="448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遮光叶片与见光叶片经过脱色并滴加碘液后，见光部分变蓝、遮光部分不变蓝，说明光是光合作用必需条件。 易错：把光当作产物或原料；忽视叶绿体这一内部条件；只写实验现象不写结论。</a:t>
            </a:r>
            <a:endParaRPr lang="en-US" sz="1100" dirty="0"/>
          </a:p>
        </p:txBody>
      </p:sp>
      <p:sp>
        <p:nvSpPr>
          <p:cNvPr id="24" name="Text 22"/>
          <p:cNvSpPr/>
          <p:nvPr/>
        </p:nvSpPr>
        <p:spPr>
          <a:xfrm>
            <a:off x="7799832" y="4334256"/>
            <a:ext cx="30998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思考表达</a:t>
            </a:r>
            <a:endParaRPr lang="en-US" sz="1200" dirty="0"/>
          </a:p>
        </p:txBody>
      </p:sp>
      <p:sp>
        <p:nvSpPr>
          <p:cNvPr id="25" name="Text 23"/>
          <p:cNvSpPr/>
          <p:nvPr/>
        </p:nvSpPr>
        <p:spPr>
          <a:xfrm>
            <a:off x="7799832" y="4626864"/>
            <a:ext cx="3099816" cy="448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如果植物有水和二氧化碳，但长期处于黑暗环境中，它还能制造有机物吗？请用“条件缺失—现象—结论”的方式回答。</a:t>
            </a:r>
            <a:endParaRPr lang="en-US" sz="1100" dirty="0"/>
          </a:p>
        </p:txBody>
      </p:sp>
      <p:sp>
        <p:nvSpPr>
          <p:cNvPr id="27" name="Shape 24"/>
          <p:cNvSpPr/>
          <p:nvPr/>
        </p:nvSpPr>
        <p:spPr>
          <a:xfrm>
            <a:off x="548640" y="6473952"/>
            <a:ext cx="11064240" cy="0"/>
          </a:xfrm>
          <a:prstGeom prst="line">
            <a:avLst/>
          </a:prstGeom>
          <a:noFill/>
          <a:ln w="12700">
            <a:solidFill>
              <a:srgbClr val="E5E7EB"/>
            </a:solidFill>
            <a:prstDash val="solid"/>
          </a:ln>
        </p:spPr>
      </p:sp>
      <p:sp>
        <p:nvSpPr>
          <p:cNvPr id="28" name="Text 25"/>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5/15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349240"/>
            <a:ext cx="10195560" cy="731520"/>
          </a:xfrm>
          <a:prstGeom prst="roundRect">
            <a:avLst/>
          </a:prstGeom>
          <a:solidFill>
            <a:srgbClr val="D1FAE5"/>
          </a:solidFill>
          <a:ln w="12700">
            <a:solidFill>
              <a:srgbClr val="81C784"/>
            </a:solidFill>
            <a:prstDash val="solid"/>
          </a:ln>
        </p:spPr>
      </p:sp>
      <p:sp>
        <p:nvSpPr>
          <p:cNvPr id="6" name="Shape 4"/>
          <p:cNvSpPr/>
          <p:nvPr/>
        </p:nvSpPr>
        <p:spPr>
          <a:xfrm>
            <a:off x="822960" y="1645920"/>
            <a:ext cx="6400800" cy="4389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条件相关实验现象分析</a:t>
            </a:r>
            <a:endParaRPr lang="en-US" sz="2600" dirty="0"/>
          </a:p>
        </p:txBody>
      </p:sp>
      <p:sp>
        <p:nvSpPr>
          <p:cNvPr id="8" name="Shape 6"/>
          <p:cNvSpPr/>
          <p:nvPr/>
        </p:nvSpPr>
        <p:spPr>
          <a:xfrm>
            <a:off x="1252728" y="923544"/>
            <a:ext cx="0" cy="274320"/>
          </a:xfrm>
          <a:prstGeom prst="line">
            <a:avLst/>
          </a:prstGeom>
          <a:noFill/>
          <a:ln w="25400">
            <a:solidFill>
              <a:srgbClr val="81C784"/>
            </a:solidFill>
            <a:prstDash val="solid"/>
          </a:ln>
        </p:spPr>
      </p:sp>
      <p:sp>
        <p:nvSpPr>
          <p:cNvPr id="9" name="Shape 7"/>
          <p:cNvSpPr/>
          <p:nvPr/>
        </p:nvSpPr>
        <p:spPr>
          <a:xfrm>
            <a:off x="1143000" y="649224"/>
            <a:ext cx="292608" cy="292608"/>
          </a:xfrm>
          <a:prstGeom prst="ellipse">
            <a:avLst/>
          </a:prstGeom>
          <a:solidFill>
            <a:srgbClr val="81C784"/>
          </a:solidFill>
          <a:ln w="12700">
            <a:solidFill>
              <a:srgbClr val="81C784"/>
            </a:solidFill>
            <a:prstDash val="solid"/>
          </a:ln>
        </p:spPr>
      </p:sp>
      <p:sp>
        <p:nvSpPr>
          <p:cNvPr id="10" name="Text 8"/>
          <p:cNvSpPr/>
          <p:nvPr/>
        </p:nvSpPr>
        <p:spPr>
          <a:xfrm>
            <a:off x="1143000" y="68580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1</a:t>
            </a:r>
            <a:endParaRPr lang="en-US" sz="1000" dirty="0"/>
          </a:p>
        </p:txBody>
      </p:sp>
      <p:sp>
        <p:nvSpPr>
          <p:cNvPr id="11" name="Shape 9"/>
          <p:cNvSpPr/>
          <p:nvPr/>
        </p:nvSpPr>
        <p:spPr>
          <a:xfrm>
            <a:off x="1691640" y="594360"/>
            <a:ext cx="8823960" cy="134112"/>
          </a:xfrm>
          <a:prstGeom prst="roundRect">
            <a:avLst/>
          </a:prstGeom>
          <a:solidFill>
            <a:srgbClr val="FFFFFF"/>
          </a:solidFill>
          <a:ln w="12700">
            <a:solidFill>
              <a:srgbClr val="81C784"/>
            </a:solidFill>
            <a:prstDash val="solid"/>
          </a:ln>
        </p:spPr>
      </p:sp>
      <p:sp>
        <p:nvSpPr>
          <p:cNvPr id="12" name="Text 10"/>
          <p:cNvSpPr/>
          <p:nvPr/>
        </p:nvSpPr>
        <p:spPr>
          <a:xfrm>
            <a:off x="1856232" y="722376"/>
            <a:ext cx="8494776" cy="1828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先找实验中的单一变量</a:t>
            </a:r>
            <a:endParaRPr lang="en-US" sz="1300" dirty="0"/>
          </a:p>
        </p:txBody>
      </p:sp>
      <p:sp>
        <p:nvSpPr>
          <p:cNvPr id="13" name="Shape 11"/>
          <p:cNvSpPr/>
          <p:nvPr/>
        </p:nvSpPr>
        <p:spPr>
          <a:xfrm>
            <a:off x="1143000" y="947928"/>
            <a:ext cx="292608" cy="292608"/>
          </a:xfrm>
          <a:prstGeom prst="ellipse">
            <a:avLst/>
          </a:prstGeom>
          <a:solidFill>
            <a:srgbClr val="81C784"/>
          </a:solidFill>
          <a:ln w="12700">
            <a:solidFill>
              <a:srgbClr val="81C784"/>
            </a:solidFill>
            <a:prstDash val="solid"/>
          </a:ln>
        </p:spPr>
      </p:sp>
      <p:sp>
        <p:nvSpPr>
          <p:cNvPr id="14" name="Text 12"/>
          <p:cNvSpPr/>
          <p:nvPr/>
        </p:nvSpPr>
        <p:spPr>
          <a:xfrm>
            <a:off x="1143000" y="984504"/>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2</a:t>
            </a:r>
            <a:endParaRPr lang="en-US" sz="1000" dirty="0"/>
          </a:p>
        </p:txBody>
      </p:sp>
      <p:sp>
        <p:nvSpPr>
          <p:cNvPr id="15" name="Shape 13"/>
          <p:cNvSpPr/>
          <p:nvPr/>
        </p:nvSpPr>
        <p:spPr>
          <a:xfrm>
            <a:off x="1691640" y="893064"/>
            <a:ext cx="8823960" cy="134112"/>
          </a:xfrm>
          <a:prstGeom prst="roundRect">
            <a:avLst/>
          </a:prstGeom>
          <a:solidFill>
            <a:srgbClr val="FFFFFF"/>
          </a:solidFill>
          <a:ln w="12700">
            <a:solidFill>
              <a:srgbClr val="81C784"/>
            </a:solidFill>
            <a:prstDash val="solid"/>
          </a:ln>
        </p:spPr>
      </p:sp>
      <p:sp>
        <p:nvSpPr>
          <p:cNvPr id="16" name="Text 14"/>
          <p:cNvSpPr/>
          <p:nvPr/>
        </p:nvSpPr>
        <p:spPr>
          <a:xfrm>
            <a:off x="1856232" y="1021080"/>
            <a:ext cx="8494776" cy="1828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再比较实验组与对照组现象</a:t>
            </a:r>
            <a:endParaRPr lang="en-US" sz="1300" dirty="0"/>
          </a:p>
        </p:txBody>
      </p:sp>
      <p:sp>
        <p:nvSpPr>
          <p:cNvPr id="17" name="Shape 15"/>
          <p:cNvSpPr/>
          <p:nvPr/>
        </p:nvSpPr>
        <p:spPr>
          <a:xfrm>
            <a:off x="1143000" y="1246632"/>
            <a:ext cx="292608" cy="292608"/>
          </a:xfrm>
          <a:prstGeom prst="ellipse">
            <a:avLst/>
          </a:prstGeom>
          <a:solidFill>
            <a:srgbClr val="81C784"/>
          </a:solidFill>
          <a:ln w="12700">
            <a:solidFill>
              <a:srgbClr val="81C784"/>
            </a:solidFill>
            <a:prstDash val="solid"/>
          </a:ln>
        </p:spPr>
      </p:sp>
      <p:sp>
        <p:nvSpPr>
          <p:cNvPr id="18" name="Text 16"/>
          <p:cNvSpPr/>
          <p:nvPr/>
        </p:nvSpPr>
        <p:spPr>
          <a:xfrm>
            <a:off x="1143000" y="1283208"/>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3</a:t>
            </a:r>
            <a:endParaRPr lang="en-US" sz="1000" dirty="0"/>
          </a:p>
        </p:txBody>
      </p:sp>
      <p:sp>
        <p:nvSpPr>
          <p:cNvPr id="19" name="Shape 17"/>
          <p:cNvSpPr/>
          <p:nvPr/>
        </p:nvSpPr>
        <p:spPr>
          <a:xfrm>
            <a:off x="1691640" y="1191768"/>
            <a:ext cx="8823960" cy="134112"/>
          </a:xfrm>
          <a:prstGeom prst="roundRect">
            <a:avLst/>
          </a:prstGeom>
          <a:solidFill>
            <a:srgbClr val="FFFFFF"/>
          </a:solidFill>
          <a:ln w="12700">
            <a:solidFill>
              <a:srgbClr val="81C784"/>
            </a:solidFill>
            <a:prstDash val="solid"/>
          </a:ln>
        </p:spPr>
      </p:sp>
      <p:sp>
        <p:nvSpPr>
          <p:cNvPr id="20" name="Text 18"/>
          <p:cNvSpPr/>
          <p:nvPr/>
        </p:nvSpPr>
        <p:spPr>
          <a:xfrm>
            <a:off x="1856232" y="1319784"/>
            <a:ext cx="8494776" cy="18288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最后按“现象—推理—结论”规范表达</a:t>
            </a:r>
            <a:endParaRPr lang="en-US" sz="1300" dirty="0"/>
          </a:p>
        </p:txBody>
      </p:sp>
      <p:sp>
        <p:nvSpPr>
          <p:cNvPr id="21" name="Shape 19"/>
          <p:cNvSpPr/>
          <p:nvPr/>
        </p:nvSpPr>
        <p:spPr>
          <a:xfrm>
            <a:off x="868680" y="1645920"/>
            <a:ext cx="3252216" cy="3429000"/>
          </a:xfrm>
          <a:prstGeom prst="roundRect">
            <a:avLst/>
          </a:prstGeom>
          <a:solidFill>
            <a:srgbClr val="FFFFFF"/>
          </a:solidFill>
          <a:ln w="12700">
            <a:solidFill>
              <a:srgbClr val="81C784"/>
            </a:solidFill>
            <a:prstDash val="solid"/>
          </a:ln>
        </p:spPr>
      </p:sp>
      <p:sp>
        <p:nvSpPr>
          <p:cNvPr id="22" name="Text 20"/>
          <p:cNvSpPr/>
          <p:nvPr/>
        </p:nvSpPr>
        <p:spPr>
          <a:xfrm>
            <a:off x="1033272"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遮光/见光：见光部分变蓝，遮光部分不变蓝</a:t>
            </a:r>
            <a:endParaRPr lang="en-US" sz="1300" dirty="0"/>
          </a:p>
        </p:txBody>
      </p:sp>
      <p:sp>
        <p:nvSpPr>
          <p:cNvPr id="23" name="Shape 21"/>
          <p:cNvSpPr/>
          <p:nvPr/>
        </p:nvSpPr>
        <p:spPr>
          <a:xfrm>
            <a:off x="4340352" y="1645920"/>
            <a:ext cx="3252216" cy="3429000"/>
          </a:xfrm>
          <a:prstGeom prst="roundRect">
            <a:avLst/>
          </a:prstGeom>
          <a:solidFill>
            <a:srgbClr val="FFEDD5"/>
          </a:solidFill>
          <a:ln w="12700">
            <a:solidFill>
              <a:srgbClr val="81C784"/>
            </a:solidFill>
            <a:prstDash val="solid"/>
          </a:ln>
        </p:spPr>
      </p:sp>
      <p:sp>
        <p:nvSpPr>
          <p:cNvPr id="24" name="Text 22"/>
          <p:cNvSpPr/>
          <p:nvPr/>
        </p:nvSpPr>
        <p:spPr>
          <a:xfrm>
            <a:off x="4504944"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有无二氧化碳：具备二氧化碳的叶片更易形成淀粉</a:t>
            </a:r>
            <a:endParaRPr lang="en-US" sz="1300" dirty="0"/>
          </a:p>
        </p:txBody>
      </p:sp>
      <p:sp>
        <p:nvSpPr>
          <p:cNvPr id="25" name="Shape 23"/>
          <p:cNvSpPr/>
          <p:nvPr/>
        </p:nvSpPr>
        <p:spPr>
          <a:xfrm>
            <a:off x="7812024" y="1645920"/>
            <a:ext cx="3252216" cy="3429000"/>
          </a:xfrm>
          <a:prstGeom prst="roundRect">
            <a:avLst/>
          </a:prstGeom>
          <a:solidFill>
            <a:srgbClr val="FFFFFF"/>
          </a:solidFill>
          <a:ln w="12700">
            <a:solidFill>
              <a:srgbClr val="81C784"/>
            </a:solidFill>
            <a:prstDash val="solid"/>
          </a:ln>
        </p:spPr>
      </p:sp>
      <p:sp>
        <p:nvSpPr>
          <p:cNvPr id="26" name="Text 24"/>
          <p:cNvSpPr/>
          <p:nvPr/>
        </p:nvSpPr>
        <p:spPr>
          <a:xfrm>
            <a:off x="7976616"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绿色部分/白色部分：绿色部分变蓝，白色部分通常不变蓝</a:t>
            </a:r>
            <a:endParaRPr lang="en-US" sz="1300" dirty="0"/>
          </a:p>
        </p:txBody>
      </p:sp>
      <p:sp>
        <p:nvSpPr>
          <p:cNvPr id="27" name="Text 25"/>
          <p:cNvSpPr/>
          <p:nvPr/>
        </p:nvSpPr>
        <p:spPr>
          <a:xfrm>
            <a:off x="1033272" y="547725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示范分析</a:t>
            </a:r>
            <a:endParaRPr lang="en-US" sz="1200" dirty="0"/>
          </a:p>
        </p:txBody>
      </p:sp>
      <p:sp>
        <p:nvSpPr>
          <p:cNvPr id="28" name="Text 26"/>
          <p:cNvSpPr/>
          <p:nvPr/>
        </p:nvSpPr>
        <p:spPr>
          <a:xfrm>
            <a:off x="1033272" y="576986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例如，见光部分变蓝、遮光部分不变蓝，说明见光部分形成了淀粉，遮光部分没有形成淀粉，因此可得出“光是光合作用必需条件”的结论。 易错：把“滴碘液变蓝”直接当成结论；把叶片变蓝误写成“产生了氧气”；写反实验组与对照组。</a:t>
            </a:r>
            <a:endParaRPr lang="en-US" sz="1100" dirty="0"/>
          </a:p>
        </p:txBody>
      </p:sp>
      <p:sp>
        <p:nvSpPr>
          <p:cNvPr id="29" name="Text 27"/>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规范作答练习</a:t>
            </a:r>
            <a:endParaRPr lang="en-US" sz="1200" dirty="0"/>
          </a:p>
        </p:txBody>
      </p:sp>
      <p:sp>
        <p:nvSpPr>
          <p:cNvPr id="30" name="Text 28"/>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看到“遮光部分不变蓝、见光部分变蓝”这一现象时，你能不能完整说出它说明了什么、为什么？</a:t>
            </a:r>
            <a:endParaRPr lang="en-US" sz="1100" dirty="0"/>
          </a:p>
        </p:txBody>
      </p:sp>
      <p:sp>
        <p:nvSpPr>
          <p:cNvPr id="32" name="Shape 29"/>
          <p:cNvSpPr/>
          <p:nvPr/>
        </p:nvSpPr>
        <p:spPr>
          <a:xfrm>
            <a:off x="548640" y="6473952"/>
            <a:ext cx="11064240" cy="0"/>
          </a:xfrm>
          <a:prstGeom prst="line">
            <a:avLst/>
          </a:prstGeom>
          <a:noFill/>
          <a:ln w="12700">
            <a:solidFill>
              <a:srgbClr val="E5E7EB"/>
            </a:solidFill>
            <a:prstDash val="solid"/>
          </a:ln>
        </p:spPr>
      </p:sp>
      <p:sp>
        <p:nvSpPr>
          <p:cNvPr id="33" name="Text 30"/>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6/15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440680"/>
            <a:ext cx="10195560" cy="685800"/>
          </a:xfrm>
          <a:prstGeom prst="roundRect">
            <a:avLst/>
          </a:prstGeom>
          <a:solidFill>
            <a:srgbClr val="D1FAE5"/>
          </a:solidFill>
          <a:ln w="12700">
            <a:solidFill>
              <a:srgbClr val="81C784"/>
            </a:solidFill>
            <a:prstDash val="solid"/>
          </a:ln>
        </p:spPr>
      </p:sp>
      <p:sp>
        <p:nvSpPr>
          <p:cNvPr id="6" name="Shape 4"/>
          <p:cNvSpPr/>
          <p:nvPr/>
        </p:nvSpPr>
        <p:spPr>
          <a:xfrm>
            <a:off x="822960" y="1645920"/>
            <a:ext cx="6400800" cy="4389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光合作用的基本过程</a:t>
            </a:r>
            <a:endParaRPr lang="en-US" sz="2600" dirty="0"/>
          </a:p>
        </p:txBody>
      </p:sp>
      <p:sp>
        <p:nvSpPr>
          <p:cNvPr id="8" name="Shape 6"/>
          <p:cNvSpPr/>
          <p:nvPr/>
        </p:nvSpPr>
        <p:spPr>
          <a:xfrm>
            <a:off x="868680" y="1645920"/>
            <a:ext cx="3252216" cy="1705356"/>
          </a:xfrm>
          <a:prstGeom prst="roundRect">
            <a:avLst/>
          </a:prstGeom>
          <a:solidFill>
            <a:srgbClr val="FFFFFF"/>
          </a:solidFill>
          <a:ln w="12700">
            <a:solidFill>
              <a:srgbClr val="2E7D32"/>
            </a:solidFill>
            <a:prstDash val="solid"/>
          </a:ln>
        </p:spPr>
      </p:sp>
      <p:sp>
        <p:nvSpPr>
          <p:cNvPr id="9" name="Text 7"/>
          <p:cNvSpPr/>
          <p:nvPr/>
        </p:nvSpPr>
        <p:spPr>
          <a:xfrm>
            <a:off x="1033272" y="1810512"/>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原料：二氧化碳、水</a:t>
            </a:r>
            <a:endParaRPr lang="en-US" sz="1300" dirty="0"/>
          </a:p>
        </p:txBody>
      </p:sp>
      <p:sp>
        <p:nvSpPr>
          <p:cNvPr id="10" name="Shape 8"/>
          <p:cNvSpPr/>
          <p:nvPr/>
        </p:nvSpPr>
        <p:spPr>
          <a:xfrm>
            <a:off x="4340352" y="1645920"/>
            <a:ext cx="3252216" cy="1705356"/>
          </a:xfrm>
          <a:prstGeom prst="roundRect">
            <a:avLst/>
          </a:prstGeom>
          <a:solidFill>
            <a:srgbClr val="FFFFFF"/>
          </a:solidFill>
          <a:ln w="12700">
            <a:solidFill>
              <a:srgbClr val="2E7D32"/>
            </a:solidFill>
            <a:prstDash val="solid"/>
          </a:ln>
        </p:spPr>
      </p:sp>
      <p:sp>
        <p:nvSpPr>
          <p:cNvPr id="11" name="Text 9"/>
          <p:cNvSpPr/>
          <p:nvPr/>
        </p:nvSpPr>
        <p:spPr>
          <a:xfrm>
            <a:off x="4504944" y="1810512"/>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条件：光</a:t>
            </a:r>
            <a:endParaRPr lang="en-US" sz="1300" dirty="0"/>
          </a:p>
        </p:txBody>
      </p:sp>
      <p:sp>
        <p:nvSpPr>
          <p:cNvPr id="12" name="Shape 10"/>
          <p:cNvSpPr/>
          <p:nvPr/>
        </p:nvSpPr>
        <p:spPr>
          <a:xfrm>
            <a:off x="7812024" y="1645920"/>
            <a:ext cx="3252216" cy="1705356"/>
          </a:xfrm>
          <a:prstGeom prst="roundRect">
            <a:avLst/>
          </a:prstGeom>
          <a:solidFill>
            <a:srgbClr val="FFFFFF"/>
          </a:solidFill>
          <a:ln w="12700">
            <a:solidFill>
              <a:srgbClr val="2E7D32"/>
            </a:solidFill>
            <a:prstDash val="solid"/>
          </a:ln>
        </p:spPr>
      </p:sp>
      <p:sp>
        <p:nvSpPr>
          <p:cNvPr id="13" name="Text 11"/>
          <p:cNvSpPr/>
          <p:nvPr/>
        </p:nvSpPr>
        <p:spPr>
          <a:xfrm>
            <a:off x="7976616" y="1810512"/>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场所/重要内部条件：叶绿体</a:t>
            </a:r>
            <a:endParaRPr lang="en-US" sz="1300" dirty="0"/>
          </a:p>
        </p:txBody>
      </p:sp>
      <p:sp>
        <p:nvSpPr>
          <p:cNvPr id="14" name="Shape 12"/>
          <p:cNvSpPr/>
          <p:nvPr/>
        </p:nvSpPr>
        <p:spPr>
          <a:xfrm>
            <a:off x="868680" y="3552444"/>
            <a:ext cx="3252216" cy="1705356"/>
          </a:xfrm>
          <a:prstGeom prst="roundRect">
            <a:avLst/>
          </a:prstGeom>
          <a:solidFill>
            <a:srgbClr val="FFFFFF"/>
          </a:solidFill>
          <a:ln w="12700">
            <a:solidFill>
              <a:srgbClr val="2E7D32"/>
            </a:solidFill>
            <a:prstDash val="solid"/>
          </a:ln>
        </p:spPr>
      </p:sp>
      <p:sp>
        <p:nvSpPr>
          <p:cNvPr id="15" name="Text 13"/>
          <p:cNvSpPr/>
          <p:nvPr/>
        </p:nvSpPr>
        <p:spPr>
          <a:xfrm>
            <a:off x="1033272" y="3717036"/>
            <a:ext cx="2923032" cy="137617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结果：无机物转变为有机物，并储存能量</a:t>
            </a:r>
            <a:endParaRPr lang="en-US" sz="1300" dirty="0"/>
          </a:p>
        </p:txBody>
      </p:sp>
      <p:sp>
        <p:nvSpPr>
          <p:cNvPr id="16" name="Shape 14"/>
          <p:cNvSpPr/>
          <p:nvPr/>
        </p:nvSpPr>
        <p:spPr>
          <a:xfrm>
            <a:off x="1298448" y="1975104"/>
            <a:ext cx="0" cy="2953512"/>
          </a:xfrm>
          <a:prstGeom prst="line">
            <a:avLst/>
          </a:prstGeom>
          <a:noFill/>
          <a:ln w="25400">
            <a:solidFill>
              <a:srgbClr val="81C784"/>
            </a:solidFill>
            <a:prstDash val="solid"/>
          </a:ln>
        </p:spPr>
      </p:sp>
      <p:sp>
        <p:nvSpPr>
          <p:cNvPr id="17" name="Shape 15"/>
          <p:cNvSpPr/>
          <p:nvPr/>
        </p:nvSpPr>
        <p:spPr>
          <a:xfrm>
            <a:off x="1188720" y="1700784"/>
            <a:ext cx="292608" cy="292608"/>
          </a:xfrm>
          <a:prstGeom prst="ellipse">
            <a:avLst/>
          </a:prstGeom>
          <a:solidFill>
            <a:srgbClr val="81C784"/>
          </a:solidFill>
          <a:ln w="12700">
            <a:solidFill>
              <a:srgbClr val="81C784"/>
            </a:solidFill>
            <a:prstDash val="solid"/>
          </a:ln>
        </p:spPr>
      </p:sp>
      <p:sp>
        <p:nvSpPr>
          <p:cNvPr id="18" name="Text 16"/>
          <p:cNvSpPr/>
          <p:nvPr/>
        </p:nvSpPr>
        <p:spPr>
          <a:xfrm>
            <a:off x="1188720" y="17373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1</a:t>
            </a:r>
            <a:endParaRPr lang="en-US" sz="1000" dirty="0"/>
          </a:p>
        </p:txBody>
      </p:sp>
      <p:sp>
        <p:nvSpPr>
          <p:cNvPr id="19" name="Shape 17"/>
          <p:cNvSpPr/>
          <p:nvPr/>
        </p:nvSpPr>
        <p:spPr>
          <a:xfrm>
            <a:off x="1737360" y="1645920"/>
            <a:ext cx="9144000" cy="749808"/>
          </a:xfrm>
          <a:prstGeom prst="roundRect">
            <a:avLst/>
          </a:prstGeom>
          <a:solidFill>
            <a:srgbClr val="FFFFFF"/>
          </a:solidFill>
          <a:ln w="12700">
            <a:solidFill>
              <a:srgbClr val="81C784"/>
            </a:solidFill>
            <a:prstDash val="solid"/>
          </a:ln>
        </p:spPr>
      </p:sp>
      <p:sp>
        <p:nvSpPr>
          <p:cNvPr id="20" name="Text 18"/>
          <p:cNvSpPr/>
          <p:nvPr/>
        </p:nvSpPr>
        <p:spPr>
          <a:xfrm>
            <a:off x="1901952" y="17739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植物吸收二氧化碳和水</a:t>
            </a:r>
            <a:endParaRPr lang="en-US" sz="1300" dirty="0"/>
          </a:p>
        </p:txBody>
      </p:sp>
      <p:sp>
        <p:nvSpPr>
          <p:cNvPr id="21" name="Shape 19"/>
          <p:cNvSpPr/>
          <p:nvPr/>
        </p:nvSpPr>
        <p:spPr>
          <a:xfrm>
            <a:off x="1188720" y="2615184"/>
            <a:ext cx="292608" cy="292608"/>
          </a:xfrm>
          <a:prstGeom prst="ellipse">
            <a:avLst/>
          </a:prstGeom>
          <a:solidFill>
            <a:srgbClr val="81C784"/>
          </a:solidFill>
          <a:ln w="12700">
            <a:solidFill>
              <a:srgbClr val="81C784"/>
            </a:solidFill>
            <a:prstDash val="solid"/>
          </a:ln>
        </p:spPr>
      </p:sp>
      <p:sp>
        <p:nvSpPr>
          <p:cNvPr id="22" name="Text 20"/>
          <p:cNvSpPr/>
          <p:nvPr/>
        </p:nvSpPr>
        <p:spPr>
          <a:xfrm>
            <a:off x="1188720" y="26517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2</a:t>
            </a:r>
            <a:endParaRPr lang="en-US" sz="1000" dirty="0"/>
          </a:p>
        </p:txBody>
      </p:sp>
      <p:sp>
        <p:nvSpPr>
          <p:cNvPr id="23" name="Shape 21"/>
          <p:cNvSpPr/>
          <p:nvPr/>
        </p:nvSpPr>
        <p:spPr>
          <a:xfrm>
            <a:off x="1737360" y="2560320"/>
            <a:ext cx="9144000" cy="749808"/>
          </a:xfrm>
          <a:prstGeom prst="roundRect">
            <a:avLst/>
          </a:prstGeom>
          <a:solidFill>
            <a:srgbClr val="FFFFFF"/>
          </a:solidFill>
          <a:ln w="12700">
            <a:solidFill>
              <a:srgbClr val="81C784"/>
            </a:solidFill>
            <a:prstDash val="solid"/>
          </a:ln>
        </p:spPr>
      </p:sp>
      <p:sp>
        <p:nvSpPr>
          <p:cNvPr id="24" name="Text 22"/>
          <p:cNvSpPr/>
          <p:nvPr/>
        </p:nvSpPr>
        <p:spPr>
          <a:xfrm>
            <a:off x="1901952" y="26883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叶绿体在光能作用下进行转化</a:t>
            </a:r>
            <a:endParaRPr lang="en-US" sz="1300" dirty="0"/>
          </a:p>
        </p:txBody>
      </p:sp>
      <p:sp>
        <p:nvSpPr>
          <p:cNvPr id="25" name="Shape 23"/>
          <p:cNvSpPr/>
          <p:nvPr/>
        </p:nvSpPr>
        <p:spPr>
          <a:xfrm>
            <a:off x="1188720" y="3529584"/>
            <a:ext cx="292608" cy="292608"/>
          </a:xfrm>
          <a:prstGeom prst="ellipse">
            <a:avLst/>
          </a:prstGeom>
          <a:solidFill>
            <a:srgbClr val="81C784"/>
          </a:solidFill>
          <a:ln w="12700">
            <a:solidFill>
              <a:srgbClr val="81C784"/>
            </a:solidFill>
            <a:prstDash val="solid"/>
          </a:ln>
        </p:spPr>
      </p:sp>
      <p:sp>
        <p:nvSpPr>
          <p:cNvPr id="26" name="Text 24"/>
          <p:cNvSpPr/>
          <p:nvPr/>
        </p:nvSpPr>
        <p:spPr>
          <a:xfrm>
            <a:off x="1188720" y="35661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3</a:t>
            </a:r>
            <a:endParaRPr lang="en-US" sz="1000" dirty="0"/>
          </a:p>
        </p:txBody>
      </p:sp>
      <p:sp>
        <p:nvSpPr>
          <p:cNvPr id="27" name="Shape 25"/>
          <p:cNvSpPr/>
          <p:nvPr/>
        </p:nvSpPr>
        <p:spPr>
          <a:xfrm>
            <a:off x="1737360" y="3474720"/>
            <a:ext cx="9144000" cy="749808"/>
          </a:xfrm>
          <a:prstGeom prst="roundRect">
            <a:avLst/>
          </a:prstGeom>
          <a:solidFill>
            <a:srgbClr val="FFFFFF"/>
          </a:solidFill>
          <a:ln w="12700">
            <a:solidFill>
              <a:srgbClr val="81C784"/>
            </a:solidFill>
            <a:prstDash val="solid"/>
          </a:ln>
        </p:spPr>
      </p:sp>
      <p:sp>
        <p:nvSpPr>
          <p:cNvPr id="28" name="Text 26"/>
          <p:cNvSpPr/>
          <p:nvPr/>
        </p:nvSpPr>
        <p:spPr>
          <a:xfrm>
            <a:off x="1901952" y="36027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形成有机物并释放氧气</a:t>
            </a:r>
            <a:endParaRPr lang="en-US" sz="1300" dirty="0"/>
          </a:p>
        </p:txBody>
      </p:sp>
      <p:sp>
        <p:nvSpPr>
          <p:cNvPr id="29" name="Shape 27"/>
          <p:cNvSpPr/>
          <p:nvPr/>
        </p:nvSpPr>
        <p:spPr>
          <a:xfrm>
            <a:off x="1188720" y="4443984"/>
            <a:ext cx="292608" cy="292608"/>
          </a:xfrm>
          <a:prstGeom prst="ellipse">
            <a:avLst/>
          </a:prstGeom>
          <a:solidFill>
            <a:srgbClr val="81C784"/>
          </a:solidFill>
          <a:ln w="12700">
            <a:solidFill>
              <a:srgbClr val="81C784"/>
            </a:solidFill>
            <a:prstDash val="solid"/>
          </a:ln>
        </p:spPr>
      </p:sp>
      <p:sp>
        <p:nvSpPr>
          <p:cNvPr id="30" name="Text 28"/>
          <p:cNvSpPr/>
          <p:nvPr/>
        </p:nvSpPr>
        <p:spPr>
          <a:xfrm>
            <a:off x="1188720" y="44805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4</a:t>
            </a:r>
            <a:endParaRPr lang="en-US" sz="1000" dirty="0"/>
          </a:p>
        </p:txBody>
      </p:sp>
      <p:sp>
        <p:nvSpPr>
          <p:cNvPr id="31" name="Shape 29"/>
          <p:cNvSpPr/>
          <p:nvPr/>
        </p:nvSpPr>
        <p:spPr>
          <a:xfrm>
            <a:off x="1737360" y="4389120"/>
            <a:ext cx="9144000" cy="749808"/>
          </a:xfrm>
          <a:prstGeom prst="roundRect">
            <a:avLst/>
          </a:prstGeom>
          <a:solidFill>
            <a:srgbClr val="FFFFFF"/>
          </a:solidFill>
          <a:ln w="12700">
            <a:solidFill>
              <a:srgbClr val="81C784"/>
            </a:solidFill>
            <a:prstDash val="solid"/>
          </a:ln>
        </p:spPr>
      </p:sp>
      <p:sp>
        <p:nvSpPr>
          <p:cNvPr id="32" name="Text 30"/>
          <p:cNvSpPr/>
          <p:nvPr/>
        </p:nvSpPr>
        <p:spPr>
          <a:xfrm>
            <a:off x="1901952" y="45171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光能储存在有机物中</a:t>
            </a:r>
            <a:endParaRPr lang="en-US" sz="1300" dirty="0"/>
          </a:p>
        </p:txBody>
      </p:sp>
      <p:sp>
        <p:nvSpPr>
          <p:cNvPr id="33" name="Text 31"/>
          <p:cNvSpPr/>
          <p:nvPr/>
        </p:nvSpPr>
        <p:spPr>
          <a:xfrm>
            <a:off x="1033272" y="556869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理解提醒</a:t>
            </a:r>
            <a:endParaRPr lang="en-US" sz="1200" dirty="0"/>
          </a:p>
        </p:txBody>
      </p:sp>
      <p:sp>
        <p:nvSpPr>
          <p:cNvPr id="34" name="Text 32"/>
          <p:cNvSpPr/>
          <p:nvPr/>
        </p:nvSpPr>
        <p:spPr>
          <a:xfrm>
            <a:off x="1033272" y="586130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白天阳光充足时，植物叶片可利用二氧化碳和水制造淀粉等有机物，同时释放氧气。 易错：只记住“释放氧气”，忽略制造有机物才是核心结果之一；把光写成产物；把过程顺序说反。</a:t>
            </a:r>
            <a:endParaRPr lang="en-US" sz="1100" dirty="0"/>
          </a:p>
        </p:txBody>
      </p:sp>
      <p:sp>
        <p:nvSpPr>
          <p:cNvPr id="35" name="Text 33"/>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复述训练</a:t>
            </a:r>
            <a:endParaRPr lang="en-US" sz="1200" dirty="0"/>
          </a:p>
        </p:txBody>
      </p:sp>
      <p:sp>
        <p:nvSpPr>
          <p:cNvPr id="36" name="Text 34"/>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如果植物只有水和二氧化碳，但是没有光，它还能把无机物变成有机物吗？请你用“原料—条件—产物”完整回答。</a:t>
            </a:r>
            <a:endParaRPr lang="en-US" sz="1100" dirty="0"/>
          </a:p>
        </p:txBody>
      </p:sp>
      <p:sp>
        <p:nvSpPr>
          <p:cNvPr id="38" name="Shape 35"/>
          <p:cNvSpPr/>
          <p:nvPr/>
        </p:nvSpPr>
        <p:spPr>
          <a:xfrm>
            <a:off x="548640" y="6473952"/>
            <a:ext cx="11064240" cy="0"/>
          </a:xfrm>
          <a:prstGeom prst="line">
            <a:avLst/>
          </a:prstGeom>
          <a:noFill/>
          <a:ln w="12700">
            <a:solidFill>
              <a:srgbClr val="E5E7EB"/>
            </a:solidFill>
            <a:prstDash val="solid"/>
          </a:ln>
        </p:spPr>
      </p:sp>
      <p:sp>
        <p:nvSpPr>
          <p:cNvPr id="39" name="Text 36"/>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7/15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440680"/>
            <a:ext cx="10195560" cy="685800"/>
          </a:xfrm>
          <a:prstGeom prst="roundRect">
            <a:avLst/>
          </a:prstGeom>
          <a:solidFill>
            <a:srgbClr val="D1FAE5"/>
          </a:solidFill>
          <a:ln w="12700">
            <a:solidFill>
              <a:srgbClr val="81C784"/>
            </a:solidFill>
            <a:prstDash val="solid"/>
          </a:ln>
        </p:spPr>
      </p:sp>
      <p:sp>
        <p:nvSpPr>
          <p:cNvPr id="6" name="Shape 4"/>
          <p:cNvSpPr/>
          <p:nvPr/>
        </p:nvSpPr>
        <p:spPr>
          <a:xfrm>
            <a:off x="822960" y="1645920"/>
            <a:ext cx="6400800" cy="4389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过程表达与答题规范</a:t>
            </a:r>
            <a:endParaRPr lang="en-US" sz="2600" dirty="0"/>
          </a:p>
        </p:txBody>
      </p:sp>
      <p:sp>
        <p:nvSpPr>
          <p:cNvPr id="8" name="Shape 6"/>
          <p:cNvSpPr/>
          <p:nvPr/>
        </p:nvSpPr>
        <p:spPr>
          <a:xfrm>
            <a:off x="1298448" y="1975104"/>
            <a:ext cx="0" cy="2953512"/>
          </a:xfrm>
          <a:prstGeom prst="line">
            <a:avLst/>
          </a:prstGeom>
          <a:noFill/>
          <a:ln w="25400">
            <a:solidFill>
              <a:srgbClr val="81C784"/>
            </a:solidFill>
            <a:prstDash val="solid"/>
          </a:ln>
        </p:spPr>
      </p:sp>
      <p:sp>
        <p:nvSpPr>
          <p:cNvPr id="9" name="Shape 7"/>
          <p:cNvSpPr/>
          <p:nvPr/>
        </p:nvSpPr>
        <p:spPr>
          <a:xfrm>
            <a:off x="1188720" y="1700784"/>
            <a:ext cx="292608" cy="292608"/>
          </a:xfrm>
          <a:prstGeom prst="ellipse">
            <a:avLst/>
          </a:prstGeom>
          <a:solidFill>
            <a:srgbClr val="81C784"/>
          </a:solidFill>
          <a:ln w="12700">
            <a:solidFill>
              <a:srgbClr val="81C784"/>
            </a:solidFill>
            <a:prstDash val="solid"/>
          </a:ln>
        </p:spPr>
      </p:sp>
      <p:sp>
        <p:nvSpPr>
          <p:cNvPr id="10" name="Text 8"/>
          <p:cNvSpPr/>
          <p:nvPr/>
        </p:nvSpPr>
        <p:spPr>
          <a:xfrm>
            <a:off x="1188720" y="17373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1</a:t>
            </a:r>
            <a:endParaRPr lang="en-US" sz="1000" dirty="0"/>
          </a:p>
        </p:txBody>
      </p:sp>
      <p:sp>
        <p:nvSpPr>
          <p:cNvPr id="11" name="Shape 9"/>
          <p:cNvSpPr/>
          <p:nvPr/>
        </p:nvSpPr>
        <p:spPr>
          <a:xfrm>
            <a:off x="1737360" y="1645920"/>
            <a:ext cx="9144000" cy="749808"/>
          </a:xfrm>
          <a:prstGeom prst="roundRect">
            <a:avLst/>
          </a:prstGeom>
          <a:solidFill>
            <a:srgbClr val="FFFFFF"/>
          </a:solidFill>
          <a:ln w="12700">
            <a:solidFill>
              <a:srgbClr val="81C784"/>
            </a:solidFill>
            <a:prstDash val="solid"/>
          </a:ln>
        </p:spPr>
      </p:sp>
      <p:sp>
        <p:nvSpPr>
          <p:cNvPr id="12" name="Text 10"/>
          <p:cNvSpPr/>
          <p:nvPr/>
        </p:nvSpPr>
        <p:spPr>
          <a:xfrm>
            <a:off x="1901952" y="17739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先写条件：在光能作用下</a:t>
            </a:r>
            <a:endParaRPr lang="en-US" sz="1300" dirty="0"/>
          </a:p>
        </p:txBody>
      </p:sp>
      <p:sp>
        <p:nvSpPr>
          <p:cNvPr id="13" name="Shape 11"/>
          <p:cNvSpPr/>
          <p:nvPr/>
        </p:nvSpPr>
        <p:spPr>
          <a:xfrm>
            <a:off x="1188720" y="2615184"/>
            <a:ext cx="292608" cy="292608"/>
          </a:xfrm>
          <a:prstGeom prst="ellipse">
            <a:avLst/>
          </a:prstGeom>
          <a:solidFill>
            <a:srgbClr val="81C784"/>
          </a:solidFill>
          <a:ln w="12700">
            <a:solidFill>
              <a:srgbClr val="81C784"/>
            </a:solidFill>
            <a:prstDash val="solid"/>
          </a:ln>
        </p:spPr>
      </p:sp>
      <p:sp>
        <p:nvSpPr>
          <p:cNvPr id="14" name="Text 12"/>
          <p:cNvSpPr/>
          <p:nvPr/>
        </p:nvSpPr>
        <p:spPr>
          <a:xfrm>
            <a:off x="1188720" y="26517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2</a:t>
            </a:r>
            <a:endParaRPr lang="en-US" sz="1000" dirty="0"/>
          </a:p>
        </p:txBody>
      </p:sp>
      <p:sp>
        <p:nvSpPr>
          <p:cNvPr id="15" name="Shape 13"/>
          <p:cNvSpPr/>
          <p:nvPr/>
        </p:nvSpPr>
        <p:spPr>
          <a:xfrm>
            <a:off x="1737360" y="2560320"/>
            <a:ext cx="9144000" cy="749808"/>
          </a:xfrm>
          <a:prstGeom prst="roundRect">
            <a:avLst/>
          </a:prstGeom>
          <a:solidFill>
            <a:srgbClr val="FFFFFF"/>
          </a:solidFill>
          <a:ln w="12700">
            <a:solidFill>
              <a:srgbClr val="81C784"/>
            </a:solidFill>
            <a:prstDash val="solid"/>
          </a:ln>
        </p:spPr>
      </p:sp>
      <p:sp>
        <p:nvSpPr>
          <p:cNvPr id="16" name="Text 14"/>
          <p:cNvSpPr/>
          <p:nvPr/>
        </p:nvSpPr>
        <p:spPr>
          <a:xfrm>
            <a:off x="1901952" y="26883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再写原料：利用二氧化碳和水</a:t>
            </a:r>
            <a:endParaRPr lang="en-US" sz="1300" dirty="0"/>
          </a:p>
        </p:txBody>
      </p:sp>
      <p:sp>
        <p:nvSpPr>
          <p:cNvPr id="17" name="Shape 15"/>
          <p:cNvSpPr/>
          <p:nvPr/>
        </p:nvSpPr>
        <p:spPr>
          <a:xfrm>
            <a:off x="1188720" y="3529584"/>
            <a:ext cx="292608" cy="292608"/>
          </a:xfrm>
          <a:prstGeom prst="ellipse">
            <a:avLst/>
          </a:prstGeom>
          <a:solidFill>
            <a:srgbClr val="81C784"/>
          </a:solidFill>
          <a:ln w="12700">
            <a:solidFill>
              <a:srgbClr val="81C784"/>
            </a:solidFill>
            <a:prstDash val="solid"/>
          </a:ln>
        </p:spPr>
      </p:sp>
      <p:sp>
        <p:nvSpPr>
          <p:cNvPr id="18" name="Text 16"/>
          <p:cNvSpPr/>
          <p:nvPr/>
        </p:nvSpPr>
        <p:spPr>
          <a:xfrm>
            <a:off x="1188720" y="35661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3</a:t>
            </a:r>
            <a:endParaRPr lang="en-US" sz="1000" dirty="0"/>
          </a:p>
        </p:txBody>
      </p:sp>
      <p:sp>
        <p:nvSpPr>
          <p:cNvPr id="19" name="Shape 17"/>
          <p:cNvSpPr/>
          <p:nvPr/>
        </p:nvSpPr>
        <p:spPr>
          <a:xfrm>
            <a:off x="1737360" y="3474720"/>
            <a:ext cx="9144000" cy="749808"/>
          </a:xfrm>
          <a:prstGeom prst="roundRect">
            <a:avLst/>
          </a:prstGeom>
          <a:solidFill>
            <a:srgbClr val="FFFFFF"/>
          </a:solidFill>
          <a:ln w="12700">
            <a:solidFill>
              <a:srgbClr val="81C784"/>
            </a:solidFill>
            <a:prstDash val="solid"/>
          </a:ln>
        </p:spPr>
      </p:sp>
      <p:sp>
        <p:nvSpPr>
          <p:cNvPr id="20" name="Text 18"/>
          <p:cNvSpPr/>
          <p:nvPr/>
        </p:nvSpPr>
        <p:spPr>
          <a:xfrm>
            <a:off x="1901952" y="36027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接着写产物：制造有机物并释放氧气</a:t>
            </a:r>
            <a:endParaRPr lang="en-US" sz="1300" dirty="0"/>
          </a:p>
        </p:txBody>
      </p:sp>
      <p:sp>
        <p:nvSpPr>
          <p:cNvPr id="21" name="Shape 19"/>
          <p:cNvSpPr/>
          <p:nvPr/>
        </p:nvSpPr>
        <p:spPr>
          <a:xfrm>
            <a:off x="1188720" y="4443984"/>
            <a:ext cx="292608" cy="292608"/>
          </a:xfrm>
          <a:prstGeom prst="ellipse">
            <a:avLst/>
          </a:prstGeom>
          <a:solidFill>
            <a:srgbClr val="81C784"/>
          </a:solidFill>
          <a:ln w="12700">
            <a:solidFill>
              <a:srgbClr val="81C784"/>
            </a:solidFill>
            <a:prstDash val="solid"/>
          </a:ln>
        </p:spPr>
      </p:sp>
      <p:sp>
        <p:nvSpPr>
          <p:cNvPr id="22" name="Text 20"/>
          <p:cNvSpPr/>
          <p:nvPr/>
        </p:nvSpPr>
        <p:spPr>
          <a:xfrm>
            <a:off x="1188720" y="4480560"/>
            <a:ext cx="292608"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4</a:t>
            </a:r>
            <a:endParaRPr lang="en-US" sz="1000" dirty="0"/>
          </a:p>
        </p:txBody>
      </p:sp>
      <p:sp>
        <p:nvSpPr>
          <p:cNvPr id="23" name="Shape 21"/>
          <p:cNvSpPr/>
          <p:nvPr/>
        </p:nvSpPr>
        <p:spPr>
          <a:xfrm>
            <a:off x="1737360" y="4389120"/>
            <a:ext cx="9144000" cy="749808"/>
          </a:xfrm>
          <a:prstGeom prst="roundRect">
            <a:avLst/>
          </a:prstGeom>
          <a:solidFill>
            <a:srgbClr val="FFFFFF"/>
          </a:solidFill>
          <a:ln w="12700">
            <a:solidFill>
              <a:srgbClr val="81C784"/>
            </a:solidFill>
            <a:prstDash val="solid"/>
          </a:ln>
        </p:spPr>
      </p:sp>
      <p:sp>
        <p:nvSpPr>
          <p:cNvPr id="24" name="Text 22"/>
          <p:cNvSpPr/>
          <p:nvPr/>
        </p:nvSpPr>
        <p:spPr>
          <a:xfrm>
            <a:off x="1901952" y="4517136"/>
            <a:ext cx="8814816" cy="5486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最后补充能量变化：把光能储存在有机物中</a:t>
            </a:r>
            <a:endParaRPr lang="en-US" sz="1300" dirty="0"/>
          </a:p>
        </p:txBody>
      </p:sp>
      <p:sp>
        <p:nvSpPr>
          <p:cNvPr id="25" name="Shape 23"/>
          <p:cNvSpPr/>
          <p:nvPr/>
        </p:nvSpPr>
        <p:spPr>
          <a:xfrm>
            <a:off x="868680" y="1645920"/>
            <a:ext cx="3252216" cy="3611880"/>
          </a:xfrm>
          <a:prstGeom prst="roundRect">
            <a:avLst/>
          </a:prstGeom>
          <a:solidFill>
            <a:srgbClr val="FFFFFF"/>
          </a:solidFill>
          <a:ln w="12700">
            <a:solidFill>
              <a:srgbClr val="81C784"/>
            </a:solidFill>
            <a:prstDash val="solid"/>
          </a:ln>
        </p:spPr>
      </p:sp>
      <p:sp>
        <p:nvSpPr>
          <p:cNvPr id="26" name="Text 24"/>
          <p:cNvSpPr/>
          <p:nvPr/>
        </p:nvSpPr>
        <p:spPr>
          <a:xfrm>
            <a:off x="1033272" y="1847088"/>
            <a:ext cx="2923032" cy="32461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错误：把光写成产物；规范：光是条件</a:t>
            </a:r>
            <a:endParaRPr lang="en-US" sz="1300" dirty="0"/>
          </a:p>
        </p:txBody>
      </p:sp>
      <p:sp>
        <p:nvSpPr>
          <p:cNvPr id="27" name="Shape 25"/>
          <p:cNvSpPr/>
          <p:nvPr/>
        </p:nvSpPr>
        <p:spPr>
          <a:xfrm>
            <a:off x="4340352" y="1645920"/>
            <a:ext cx="3252216" cy="3611880"/>
          </a:xfrm>
          <a:prstGeom prst="roundRect">
            <a:avLst/>
          </a:prstGeom>
          <a:solidFill>
            <a:srgbClr val="FFEDD5"/>
          </a:solidFill>
          <a:ln w="12700">
            <a:solidFill>
              <a:srgbClr val="81C784"/>
            </a:solidFill>
            <a:prstDash val="solid"/>
          </a:ln>
        </p:spPr>
      </p:sp>
      <p:sp>
        <p:nvSpPr>
          <p:cNvPr id="28" name="Text 26"/>
          <p:cNvSpPr/>
          <p:nvPr/>
        </p:nvSpPr>
        <p:spPr>
          <a:xfrm>
            <a:off x="4504944" y="1847088"/>
            <a:ext cx="2923032" cy="32461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错误：把氧气写在反应前；规范：氧气是产物</a:t>
            </a:r>
            <a:endParaRPr lang="en-US" sz="1300" dirty="0"/>
          </a:p>
        </p:txBody>
      </p:sp>
      <p:sp>
        <p:nvSpPr>
          <p:cNvPr id="29" name="Shape 27"/>
          <p:cNvSpPr/>
          <p:nvPr/>
        </p:nvSpPr>
        <p:spPr>
          <a:xfrm>
            <a:off x="7812024" y="1645920"/>
            <a:ext cx="3252216" cy="3611880"/>
          </a:xfrm>
          <a:prstGeom prst="roundRect">
            <a:avLst/>
          </a:prstGeom>
          <a:solidFill>
            <a:srgbClr val="FFFFFF"/>
          </a:solidFill>
          <a:ln w="12700">
            <a:solidFill>
              <a:srgbClr val="81C784"/>
            </a:solidFill>
            <a:prstDash val="solid"/>
          </a:ln>
        </p:spPr>
      </p:sp>
      <p:sp>
        <p:nvSpPr>
          <p:cNvPr id="30" name="Text 28"/>
          <p:cNvSpPr/>
          <p:nvPr/>
        </p:nvSpPr>
        <p:spPr>
          <a:xfrm>
            <a:off x="7976616" y="1847088"/>
            <a:ext cx="2923032" cy="32461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错误：只写释放氧气；规范：还要写制造有机物</a:t>
            </a:r>
            <a:endParaRPr lang="en-US" sz="1300" dirty="0"/>
          </a:p>
        </p:txBody>
      </p:sp>
      <p:sp>
        <p:nvSpPr>
          <p:cNvPr id="31" name="Text 29"/>
          <p:cNvSpPr/>
          <p:nvPr/>
        </p:nvSpPr>
        <p:spPr>
          <a:xfrm>
            <a:off x="1033272" y="556869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示例答案</a:t>
            </a:r>
            <a:endParaRPr lang="en-US" sz="1200" dirty="0"/>
          </a:p>
        </p:txBody>
      </p:sp>
      <p:sp>
        <p:nvSpPr>
          <p:cNvPr id="32" name="Text 30"/>
          <p:cNvSpPr/>
          <p:nvPr/>
        </p:nvSpPr>
        <p:spPr>
          <a:xfrm>
            <a:off x="1033272" y="586130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规范答法：绿色植物在光能作用下，利用二氧化碳和水制造有机物，并释放氧气，同时把光能储存在有机物中。 若叶片滴加碘液后变蓝，应先写“说明有淀粉形成”，再写“说明该叶片进行了光合作用”。</a:t>
            </a:r>
            <a:endParaRPr lang="en-US" sz="1100" dirty="0"/>
          </a:p>
        </p:txBody>
      </p:sp>
      <p:sp>
        <p:nvSpPr>
          <p:cNvPr id="33" name="Text 31"/>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改错练习</a:t>
            </a:r>
            <a:endParaRPr lang="en-US" sz="1200" dirty="0"/>
          </a:p>
        </p:txBody>
      </p:sp>
      <p:sp>
        <p:nvSpPr>
          <p:cNvPr id="34" name="Text 32"/>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如果把“光”写成产物，或者把“氧气”写到反应前面，为什么不对？谁能用“条件、原料、产物”三个词完整纠正？</a:t>
            </a:r>
            <a:endParaRPr lang="en-US" sz="1100" dirty="0"/>
          </a:p>
        </p:txBody>
      </p:sp>
      <p:sp>
        <p:nvSpPr>
          <p:cNvPr id="36" name="Shape 33"/>
          <p:cNvSpPr/>
          <p:nvPr/>
        </p:nvSpPr>
        <p:spPr>
          <a:xfrm>
            <a:off x="548640" y="6473952"/>
            <a:ext cx="11064240" cy="0"/>
          </a:xfrm>
          <a:prstGeom prst="line">
            <a:avLst/>
          </a:prstGeom>
          <a:noFill/>
          <a:ln w="12700">
            <a:solidFill>
              <a:srgbClr val="E5E7EB"/>
            </a:solidFill>
            <a:prstDash val="solid"/>
          </a:ln>
        </p:spPr>
      </p:sp>
      <p:sp>
        <p:nvSpPr>
          <p:cNvPr id="37" name="Text 34"/>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8/15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349240"/>
            <a:ext cx="10195560" cy="731520"/>
          </a:xfrm>
          <a:prstGeom prst="roundRect">
            <a:avLst/>
          </a:prstGeom>
          <a:solidFill>
            <a:srgbClr val="D1FAE5"/>
          </a:solidFill>
          <a:ln w="12700">
            <a:solidFill>
              <a:srgbClr val="81C784"/>
            </a:solidFill>
            <a:prstDash val="solid"/>
          </a:ln>
        </p:spPr>
      </p:sp>
      <p:sp>
        <p:nvSpPr>
          <p:cNvPr id="6" name="Shape 4"/>
          <p:cNvSpPr/>
          <p:nvPr/>
        </p:nvSpPr>
        <p:spPr>
          <a:xfrm>
            <a:off x="822960" y="1645920"/>
            <a:ext cx="6400800" cy="4389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光合作用的产物</a:t>
            </a:r>
            <a:endParaRPr lang="en-US" sz="2600" dirty="0"/>
          </a:p>
        </p:txBody>
      </p:sp>
      <p:sp>
        <p:nvSpPr>
          <p:cNvPr id="8" name="Shape 6"/>
          <p:cNvSpPr/>
          <p:nvPr/>
        </p:nvSpPr>
        <p:spPr>
          <a:xfrm>
            <a:off x="822960" y="594360"/>
            <a:ext cx="3145536" cy="265176"/>
          </a:xfrm>
          <a:prstGeom prst="roundRect">
            <a:avLst/>
          </a:prstGeom>
          <a:solidFill>
            <a:srgbClr val="FFFFFF"/>
          </a:solidFill>
          <a:ln w="12700">
            <a:solidFill>
              <a:srgbClr val="2E7D32"/>
            </a:solidFill>
            <a:prstDash val="solid"/>
          </a:ln>
        </p:spPr>
      </p:sp>
      <p:sp>
        <p:nvSpPr>
          <p:cNvPr id="9" name="Text 7"/>
          <p:cNvSpPr/>
          <p:nvPr/>
        </p:nvSpPr>
        <p:spPr>
          <a:xfrm>
            <a:off x="987552" y="758952"/>
            <a:ext cx="2816352" cy="2743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有机物：植物制造的重要营养物质</a:t>
            </a:r>
            <a:endParaRPr lang="en-US" sz="1300" dirty="0"/>
          </a:p>
        </p:txBody>
      </p:sp>
      <p:sp>
        <p:nvSpPr>
          <p:cNvPr id="10" name="Shape 8"/>
          <p:cNvSpPr/>
          <p:nvPr/>
        </p:nvSpPr>
        <p:spPr>
          <a:xfrm>
            <a:off x="4187952" y="594360"/>
            <a:ext cx="3145536" cy="265176"/>
          </a:xfrm>
          <a:prstGeom prst="roundRect">
            <a:avLst/>
          </a:prstGeom>
          <a:solidFill>
            <a:srgbClr val="FFFFFF"/>
          </a:solidFill>
          <a:ln w="12700">
            <a:solidFill>
              <a:srgbClr val="2E7D32"/>
            </a:solidFill>
            <a:prstDash val="solid"/>
          </a:ln>
        </p:spPr>
      </p:sp>
      <p:sp>
        <p:nvSpPr>
          <p:cNvPr id="11" name="Text 9"/>
          <p:cNvSpPr/>
          <p:nvPr/>
        </p:nvSpPr>
        <p:spPr>
          <a:xfrm>
            <a:off x="4352544" y="758952"/>
            <a:ext cx="2816352" cy="2743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氧气：释放到环境中</a:t>
            </a:r>
            <a:endParaRPr lang="en-US" sz="1300" dirty="0"/>
          </a:p>
        </p:txBody>
      </p:sp>
      <p:sp>
        <p:nvSpPr>
          <p:cNvPr id="12" name="Shape 10"/>
          <p:cNvSpPr/>
          <p:nvPr/>
        </p:nvSpPr>
        <p:spPr>
          <a:xfrm>
            <a:off x="7552944" y="594360"/>
            <a:ext cx="3145536" cy="265176"/>
          </a:xfrm>
          <a:prstGeom prst="roundRect">
            <a:avLst/>
          </a:prstGeom>
          <a:solidFill>
            <a:srgbClr val="FFFFFF"/>
          </a:solidFill>
          <a:ln w="12700">
            <a:solidFill>
              <a:srgbClr val="2E7D32"/>
            </a:solidFill>
            <a:prstDash val="solid"/>
          </a:ln>
        </p:spPr>
      </p:sp>
      <p:sp>
        <p:nvSpPr>
          <p:cNvPr id="13" name="Text 11"/>
          <p:cNvSpPr/>
          <p:nvPr/>
        </p:nvSpPr>
        <p:spPr>
          <a:xfrm>
            <a:off x="7717536" y="758952"/>
            <a:ext cx="2816352" cy="2743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淀粉：常作为有机物形成的实验证据</a:t>
            </a:r>
            <a:endParaRPr lang="en-US" sz="1300" dirty="0"/>
          </a:p>
        </p:txBody>
      </p:sp>
      <p:sp>
        <p:nvSpPr>
          <p:cNvPr id="14" name="Shape 12"/>
          <p:cNvSpPr/>
          <p:nvPr/>
        </p:nvSpPr>
        <p:spPr>
          <a:xfrm>
            <a:off x="822960" y="1060704"/>
            <a:ext cx="3145536" cy="265176"/>
          </a:xfrm>
          <a:prstGeom prst="roundRect">
            <a:avLst/>
          </a:prstGeom>
          <a:solidFill>
            <a:srgbClr val="FFFFFF"/>
          </a:solidFill>
          <a:ln w="12700">
            <a:solidFill>
              <a:srgbClr val="2E7D32"/>
            </a:solidFill>
            <a:prstDash val="solid"/>
          </a:ln>
        </p:spPr>
      </p:sp>
      <p:sp>
        <p:nvSpPr>
          <p:cNvPr id="15" name="Text 13"/>
          <p:cNvSpPr/>
          <p:nvPr/>
        </p:nvSpPr>
        <p:spPr>
          <a:xfrm>
            <a:off x="987552" y="1225296"/>
            <a:ext cx="2816352" cy="2743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理解产物有助于解释实验现象和生态意义</a:t>
            </a:r>
            <a:endParaRPr lang="en-US" sz="1300" dirty="0"/>
          </a:p>
        </p:txBody>
      </p:sp>
      <p:sp>
        <p:nvSpPr>
          <p:cNvPr id="16" name="Shape 14"/>
          <p:cNvSpPr/>
          <p:nvPr/>
        </p:nvSpPr>
        <p:spPr>
          <a:xfrm>
            <a:off x="868680" y="1645920"/>
            <a:ext cx="4988052" cy="3429000"/>
          </a:xfrm>
          <a:prstGeom prst="roundRect">
            <a:avLst/>
          </a:prstGeom>
          <a:solidFill>
            <a:srgbClr val="FFFFFF"/>
          </a:solidFill>
          <a:ln w="12700">
            <a:solidFill>
              <a:srgbClr val="81C784"/>
            </a:solidFill>
            <a:prstDash val="solid"/>
          </a:ln>
        </p:spPr>
      </p:sp>
      <p:sp>
        <p:nvSpPr>
          <p:cNvPr id="17" name="Text 15"/>
          <p:cNvSpPr/>
          <p:nvPr/>
        </p:nvSpPr>
        <p:spPr>
          <a:xfrm>
            <a:off x="1033272" y="1847088"/>
            <a:ext cx="4658868"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有机物：用于植物生长、发育和能量储存</a:t>
            </a:r>
            <a:endParaRPr lang="en-US" sz="1300" dirty="0"/>
          </a:p>
        </p:txBody>
      </p:sp>
      <p:sp>
        <p:nvSpPr>
          <p:cNvPr id="18" name="Shape 16"/>
          <p:cNvSpPr/>
          <p:nvPr/>
        </p:nvSpPr>
        <p:spPr>
          <a:xfrm>
            <a:off x="6076188" y="1645920"/>
            <a:ext cx="4988052" cy="3429000"/>
          </a:xfrm>
          <a:prstGeom prst="roundRect">
            <a:avLst/>
          </a:prstGeom>
          <a:solidFill>
            <a:srgbClr val="FFEDD5"/>
          </a:solidFill>
          <a:ln w="12700">
            <a:solidFill>
              <a:srgbClr val="81C784"/>
            </a:solidFill>
            <a:prstDash val="solid"/>
          </a:ln>
        </p:spPr>
      </p:sp>
      <p:sp>
        <p:nvSpPr>
          <p:cNvPr id="19" name="Text 17"/>
          <p:cNvSpPr/>
          <p:nvPr/>
        </p:nvSpPr>
        <p:spPr>
          <a:xfrm>
            <a:off x="6240780" y="1847088"/>
            <a:ext cx="4658868"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氧气：进入环境，供人和其他生物呼吸</a:t>
            </a:r>
            <a:endParaRPr lang="en-US" sz="1300" dirty="0"/>
          </a:p>
        </p:txBody>
      </p:sp>
      <p:sp>
        <p:nvSpPr>
          <p:cNvPr id="20" name="Text 18"/>
          <p:cNvSpPr/>
          <p:nvPr/>
        </p:nvSpPr>
        <p:spPr>
          <a:xfrm>
            <a:off x="1033272" y="547725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实验联系</a:t>
            </a:r>
            <a:endParaRPr lang="en-US" sz="1200" dirty="0"/>
          </a:p>
        </p:txBody>
      </p:sp>
      <p:sp>
        <p:nvSpPr>
          <p:cNvPr id="21" name="Text 19"/>
          <p:cNvSpPr/>
          <p:nvPr/>
        </p:nvSpPr>
        <p:spPr>
          <a:xfrm>
            <a:off x="1033272" y="576986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天竺葵叶片脱色后滴加碘液，见光部分变蓝、遮光部分不变蓝，说明见光部分形成了淀粉等有机物。 易错：把氧气误认为原料；看到变蓝只会说“有变化”，不会说明形成了淀粉。</a:t>
            </a:r>
            <a:endParaRPr lang="en-US" sz="1100" dirty="0"/>
          </a:p>
        </p:txBody>
      </p:sp>
      <p:sp>
        <p:nvSpPr>
          <p:cNvPr id="22" name="Text 20"/>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追问思考</a:t>
            </a:r>
            <a:endParaRPr lang="en-US" sz="1200" dirty="0"/>
          </a:p>
        </p:txBody>
      </p:sp>
      <p:sp>
        <p:nvSpPr>
          <p:cNvPr id="23" name="Text 21"/>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光合作用后，植物得到了什么，环境又得到了什么？如果叶片滴加碘液后变蓝，我们应该先说产生了什么，再判断发生了什么过程？</a:t>
            </a:r>
            <a:endParaRPr lang="en-US" sz="1100" dirty="0"/>
          </a:p>
        </p:txBody>
      </p:sp>
      <p:sp>
        <p:nvSpPr>
          <p:cNvPr id="25" name="Shape 22"/>
          <p:cNvSpPr/>
          <p:nvPr/>
        </p:nvSpPr>
        <p:spPr>
          <a:xfrm>
            <a:off x="548640" y="6473952"/>
            <a:ext cx="11064240" cy="0"/>
          </a:xfrm>
          <a:prstGeom prst="line">
            <a:avLst/>
          </a:prstGeom>
          <a:noFill/>
          <a:ln w="12700">
            <a:solidFill>
              <a:srgbClr val="E5E7EB"/>
            </a:solidFill>
            <a:prstDash val="solid"/>
          </a:ln>
        </p:spPr>
      </p:sp>
      <p:sp>
        <p:nvSpPr>
          <p:cNvPr id="26" name="Text 23"/>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9/15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349240"/>
            <a:ext cx="10195560" cy="731520"/>
          </a:xfrm>
          <a:prstGeom prst="roundRect">
            <a:avLst/>
          </a:prstGeom>
          <a:solidFill>
            <a:srgbClr val="D1FAE5"/>
          </a:solidFill>
          <a:ln w="12700">
            <a:solidFill>
              <a:srgbClr val="81C784"/>
            </a:solidFill>
            <a:prstDash val="solid"/>
          </a:ln>
        </p:spPr>
      </p:sp>
      <p:sp>
        <p:nvSpPr>
          <p:cNvPr id="6" name="Shape 4"/>
          <p:cNvSpPr/>
          <p:nvPr/>
        </p:nvSpPr>
        <p:spPr>
          <a:xfrm>
            <a:off x="868680" y="5349240"/>
            <a:ext cx="10195560" cy="7315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产物的应用理解与易错辨析</a:t>
            </a:r>
            <a:endParaRPr lang="en-US" sz="2600" dirty="0"/>
          </a:p>
        </p:txBody>
      </p:sp>
      <p:sp>
        <p:nvSpPr>
          <p:cNvPr id="8" name="Shape 6"/>
          <p:cNvSpPr/>
          <p:nvPr/>
        </p:nvSpPr>
        <p:spPr>
          <a:xfrm>
            <a:off x="868680" y="1645920"/>
            <a:ext cx="3252216" cy="3429000"/>
          </a:xfrm>
          <a:prstGeom prst="roundRect">
            <a:avLst/>
          </a:prstGeom>
          <a:solidFill>
            <a:srgbClr val="FFFFFF"/>
          </a:solidFill>
          <a:ln w="12700">
            <a:solidFill>
              <a:srgbClr val="81C784"/>
            </a:solidFill>
            <a:prstDash val="solid"/>
          </a:ln>
        </p:spPr>
      </p:sp>
      <p:sp>
        <p:nvSpPr>
          <p:cNvPr id="9" name="Text 7"/>
          <p:cNvSpPr/>
          <p:nvPr/>
        </p:nvSpPr>
        <p:spPr>
          <a:xfrm>
            <a:off x="1033272"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植物长高、形成果实和种子：依赖有机物积累</a:t>
            </a:r>
            <a:endParaRPr lang="en-US" sz="1300" dirty="0"/>
          </a:p>
        </p:txBody>
      </p:sp>
      <p:sp>
        <p:nvSpPr>
          <p:cNvPr id="10" name="Shape 8"/>
          <p:cNvSpPr/>
          <p:nvPr/>
        </p:nvSpPr>
        <p:spPr>
          <a:xfrm>
            <a:off x="4340352" y="1645920"/>
            <a:ext cx="3252216" cy="3429000"/>
          </a:xfrm>
          <a:prstGeom prst="roundRect">
            <a:avLst/>
          </a:prstGeom>
          <a:solidFill>
            <a:srgbClr val="FFEDD5"/>
          </a:solidFill>
          <a:ln w="12700">
            <a:solidFill>
              <a:srgbClr val="81C784"/>
            </a:solidFill>
            <a:prstDash val="solid"/>
          </a:ln>
        </p:spPr>
      </p:sp>
      <p:sp>
        <p:nvSpPr>
          <p:cNvPr id="11" name="Text 9"/>
          <p:cNvSpPr/>
          <p:nvPr/>
        </p:nvSpPr>
        <p:spPr>
          <a:xfrm>
            <a:off x="4504944"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空气中氧气增加：与光合作用释放氧气有关</a:t>
            </a:r>
            <a:endParaRPr lang="en-US" sz="1300" dirty="0"/>
          </a:p>
        </p:txBody>
      </p:sp>
      <p:sp>
        <p:nvSpPr>
          <p:cNvPr id="12" name="Shape 10"/>
          <p:cNvSpPr/>
          <p:nvPr/>
        </p:nvSpPr>
        <p:spPr>
          <a:xfrm>
            <a:off x="7812024" y="1645920"/>
            <a:ext cx="3252216" cy="3429000"/>
          </a:xfrm>
          <a:prstGeom prst="roundRect">
            <a:avLst/>
          </a:prstGeom>
          <a:solidFill>
            <a:srgbClr val="FFFFFF"/>
          </a:solidFill>
          <a:ln w="12700">
            <a:solidFill>
              <a:srgbClr val="81C784"/>
            </a:solidFill>
            <a:prstDash val="solid"/>
          </a:ln>
        </p:spPr>
      </p:sp>
      <p:sp>
        <p:nvSpPr>
          <p:cNvPr id="13" name="Text 11"/>
          <p:cNvSpPr/>
          <p:nvPr/>
        </p:nvSpPr>
        <p:spPr>
          <a:xfrm>
            <a:off x="7976616"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叶片滴碘液变蓝：说明形成了淀粉等有机物</a:t>
            </a:r>
            <a:endParaRPr lang="en-US" sz="1300" dirty="0"/>
          </a:p>
        </p:txBody>
      </p:sp>
      <p:sp>
        <p:nvSpPr>
          <p:cNvPr id="14" name="Text 12"/>
          <p:cNvSpPr/>
          <p:nvPr/>
        </p:nvSpPr>
        <p:spPr>
          <a:xfrm>
            <a:off x="1033272" y="547725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易错辨析</a:t>
            </a:r>
            <a:endParaRPr lang="en-US" sz="1200" dirty="0"/>
          </a:p>
        </p:txBody>
      </p:sp>
      <p:sp>
        <p:nvSpPr>
          <p:cNvPr id="15" name="Text 13"/>
          <p:cNvSpPr/>
          <p:nvPr/>
        </p:nvSpPr>
        <p:spPr>
          <a:xfrm>
            <a:off x="1033272" y="576986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很多同学会认为植物长大后的质量主要来自土壤。正确理解是：土壤主要提供水和无机盐，植物干重增加的主要来源是光合作用制造并积累的有机物。 另一个高频错误是看到叶片变蓝后不会先说“形成了淀粉”。</a:t>
            </a:r>
            <a:endParaRPr lang="en-US" sz="1100" dirty="0"/>
          </a:p>
        </p:txBody>
      </p:sp>
      <p:sp>
        <p:nvSpPr>
          <p:cNvPr id="16" name="Text 14"/>
          <p:cNvSpPr/>
          <p:nvPr/>
        </p:nvSpPr>
        <p:spPr>
          <a:xfrm>
            <a:off x="1033272" y="547725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应用追问</a:t>
            </a:r>
            <a:endParaRPr lang="en-US" sz="1200" dirty="0"/>
          </a:p>
        </p:txBody>
      </p:sp>
      <p:sp>
        <p:nvSpPr>
          <p:cNvPr id="17" name="Text 15"/>
          <p:cNvSpPr/>
          <p:nvPr/>
        </p:nvSpPr>
        <p:spPr>
          <a:xfrm>
            <a:off x="1033272" y="576986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为什么植物长大后质量增加很多，不能简单地说都是从土壤里“吸”来的？若题目给出“叶片变蓝”，你应先说形成了什么，再说发生了什么过程？</a:t>
            </a:r>
            <a:endParaRPr lang="en-US" sz="1100" dirty="0"/>
          </a:p>
        </p:txBody>
      </p:sp>
      <p:sp>
        <p:nvSpPr>
          <p:cNvPr id="19" name="Shape 16"/>
          <p:cNvSpPr/>
          <p:nvPr/>
        </p:nvSpPr>
        <p:spPr>
          <a:xfrm>
            <a:off x="548640" y="6473952"/>
            <a:ext cx="11064240" cy="0"/>
          </a:xfrm>
          <a:prstGeom prst="line">
            <a:avLst/>
          </a:prstGeom>
          <a:noFill/>
          <a:ln w="12700">
            <a:solidFill>
              <a:srgbClr val="E5E7EB"/>
            </a:solidFill>
            <a:prstDash val="solid"/>
          </a:ln>
        </p:spPr>
      </p:sp>
      <p:sp>
        <p:nvSpPr>
          <p:cNvPr id="20" name="Text 17"/>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10/15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4206240"/>
            <a:ext cx="6446520" cy="960120"/>
          </a:xfrm>
          <a:prstGeom prst="roundRect">
            <a:avLst/>
          </a:prstGeom>
          <a:solidFill>
            <a:srgbClr val="D1FAE5"/>
          </a:solidFill>
          <a:ln w="12700">
            <a:solidFill>
              <a:srgbClr val="81C784"/>
            </a:solidFill>
            <a:prstDash val="solid"/>
          </a:ln>
        </p:spPr>
      </p:sp>
      <p:sp>
        <p:nvSpPr>
          <p:cNvPr id="6" name="Shape 4"/>
          <p:cNvSpPr/>
          <p:nvPr/>
        </p:nvSpPr>
        <p:spPr>
          <a:xfrm>
            <a:off x="7635240" y="4206240"/>
            <a:ext cx="3429000" cy="960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光合作用的生态意义</a:t>
            </a:r>
            <a:endParaRPr lang="en-US" sz="2600" dirty="0"/>
          </a:p>
        </p:txBody>
      </p:sp>
      <p:sp>
        <p:nvSpPr>
          <p:cNvPr id="8" name="Shape 6"/>
          <p:cNvSpPr/>
          <p:nvPr/>
        </p:nvSpPr>
        <p:spPr>
          <a:xfrm>
            <a:off x="868680" y="1645920"/>
            <a:ext cx="3252216" cy="973836"/>
          </a:xfrm>
          <a:prstGeom prst="roundRect">
            <a:avLst/>
          </a:prstGeom>
          <a:solidFill>
            <a:srgbClr val="FFFFFF"/>
          </a:solidFill>
          <a:ln w="12700">
            <a:solidFill>
              <a:srgbClr val="2E7D32"/>
            </a:solidFill>
            <a:prstDash val="solid"/>
          </a:ln>
        </p:spPr>
      </p:sp>
      <p:sp>
        <p:nvSpPr>
          <p:cNvPr id="9" name="Text 7"/>
          <p:cNvSpPr/>
          <p:nvPr/>
        </p:nvSpPr>
        <p:spPr>
          <a:xfrm>
            <a:off x="1033272"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提供有机物：为植物自身和食物链提供物质基础</a:t>
            </a:r>
            <a:endParaRPr lang="en-US" sz="1300" dirty="0"/>
          </a:p>
        </p:txBody>
      </p:sp>
      <p:sp>
        <p:nvSpPr>
          <p:cNvPr id="10" name="Shape 8"/>
          <p:cNvSpPr/>
          <p:nvPr/>
        </p:nvSpPr>
        <p:spPr>
          <a:xfrm>
            <a:off x="4340352" y="1645920"/>
            <a:ext cx="3252216" cy="973836"/>
          </a:xfrm>
          <a:prstGeom prst="roundRect">
            <a:avLst/>
          </a:prstGeom>
          <a:solidFill>
            <a:srgbClr val="FFFFFF"/>
          </a:solidFill>
          <a:ln w="12700">
            <a:solidFill>
              <a:srgbClr val="2E7D32"/>
            </a:solidFill>
            <a:prstDash val="solid"/>
          </a:ln>
        </p:spPr>
      </p:sp>
      <p:sp>
        <p:nvSpPr>
          <p:cNvPr id="11" name="Text 9"/>
          <p:cNvSpPr/>
          <p:nvPr/>
        </p:nvSpPr>
        <p:spPr>
          <a:xfrm>
            <a:off x="4504944"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调节气体平衡：吸收二氧化碳、释放氧气</a:t>
            </a:r>
            <a:endParaRPr lang="en-US" sz="1300" dirty="0"/>
          </a:p>
        </p:txBody>
      </p:sp>
      <p:sp>
        <p:nvSpPr>
          <p:cNvPr id="12" name="Shape 10"/>
          <p:cNvSpPr/>
          <p:nvPr/>
        </p:nvSpPr>
        <p:spPr>
          <a:xfrm>
            <a:off x="7812024" y="1645920"/>
            <a:ext cx="3252216" cy="973836"/>
          </a:xfrm>
          <a:prstGeom prst="roundRect">
            <a:avLst/>
          </a:prstGeom>
          <a:solidFill>
            <a:srgbClr val="FFFFFF"/>
          </a:solidFill>
          <a:ln w="12700">
            <a:solidFill>
              <a:srgbClr val="2E7D32"/>
            </a:solidFill>
            <a:prstDash val="solid"/>
          </a:ln>
        </p:spPr>
      </p:sp>
      <p:sp>
        <p:nvSpPr>
          <p:cNvPr id="13" name="Text 11"/>
          <p:cNvSpPr/>
          <p:nvPr/>
        </p:nvSpPr>
        <p:spPr>
          <a:xfrm>
            <a:off x="7976616" y="1810512"/>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奠定能量基础：把光能转化并储存在有机物中</a:t>
            </a:r>
            <a:endParaRPr lang="en-US" sz="1300" dirty="0"/>
          </a:p>
        </p:txBody>
      </p:sp>
      <p:sp>
        <p:nvSpPr>
          <p:cNvPr id="14" name="Shape 12"/>
          <p:cNvSpPr/>
          <p:nvPr/>
        </p:nvSpPr>
        <p:spPr>
          <a:xfrm>
            <a:off x="868680" y="2820924"/>
            <a:ext cx="3252216" cy="973836"/>
          </a:xfrm>
          <a:prstGeom prst="roundRect">
            <a:avLst/>
          </a:prstGeom>
          <a:solidFill>
            <a:srgbClr val="FFFFFF"/>
          </a:solidFill>
          <a:ln w="12700">
            <a:solidFill>
              <a:srgbClr val="2E7D32"/>
            </a:solidFill>
            <a:prstDash val="solid"/>
          </a:ln>
        </p:spPr>
      </p:sp>
      <p:sp>
        <p:nvSpPr>
          <p:cNvPr id="15" name="Text 13"/>
          <p:cNvSpPr/>
          <p:nvPr/>
        </p:nvSpPr>
        <p:spPr>
          <a:xfrm>
            <a:off x="1033272" y="2985516"/>
            <a:ext cx="2923032" cy="644652"/>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服务生产与环保：关系到农业、绿化和环境改善</a:t>
            </a:r>
            <a:endParaRPr lang="en-US" sz="1300" dirty="0"/>
          </a:p>
        </p:txBody>
      </p:sp>
      <p:sp>
        <p:nvSpPr>
          <p:cNvPr id="16" name="Text 14"/>
          <p:cNvSpPr/>
          <p:nvPr/>
        </p:nvSpPr>
        <p:spPr>
          <a:xfrm>
            <a:off x="1033272" y="4334256"/>
            <a:ext cx="611733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生活例子</a:t>
            </a:r>
            <a:endParaRPr lang="en-US" sz="1200" dirty="0"/>
          </a:p>
        </p:txBody>
      </p:sp>
      <p:sp>
        <p:nvSpPr>
          <p:cNvPr id="17" name="Text 15"/>
          <p:cNvSpPr/>
          <p:nvPr/>
        </p:nvSpPr>
        <p:spPr>
          <a:xfrm>
            <a:off x="1033272" y="4626864"/>
            <a:ext cx="6117336" cy="448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森林中的绿色植物通过光合作用不断制造有机物，进入食物链，成为多种生物的食物来源；同时吸收二氧化碳、释放氧气，因此常被称为“天然氧吧”。 易错：生态意义不能只说“释放氧气”，还要看到有机物来源和能量起点。</a:t>
            </a:r>
            <a:endParaRPr lang="en-US" sz="1100" dirty="0"/>
          </a:p>
        </p:txBody>
      </p:sp>
      <p:sp>
        <p:nvSpPr>
          <p:cNvPr id="18" name="Text 16"/>
          <p:cNvSpPr/>
          <p:nvPr/>
        </p:nvSpPr>
        <p:spPr>
          <a:xfrm>
            <a:off x="7799832" y="4334256"/>
            <a:ext cx="309981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迁移思考</a:t>
            </a:r>
            <a:endParaRPr lang="en-US" sz="1200" dirty="0"/>
          </a:p>
        </p:txBody>
      </p:sp>
      <p:sp>
        <p:nvSpPr>
          <p:cNvPr id="19" name="Text 17"/>
          <p:cNvSpPr/>
          <p:nvPr/>
        </p:nvSpPr>
        <p:spPr>
          <a:xfrm>
            <a:off x="7799832" y="4626864"/>
            <a:ext cx="3099816" cy="44805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如果地球上的绿色植物明显减少，食物来源、空气成分和生态系统会分别受到什么影响？</a:t>
            </a:r>
            <a:endParaRPr lang="en-US" sz="1100" dirty="0"/>
          </a:p>
        </p:txBody>
      </p:sp>
      <p:sp>
        <p:nvSpPr>
          <p:cNvPr id="21" name="Shape 18"/>
          <p:cNvSpPr/>
          <p:nvPr/>
        </p:nvSpPr>
        <p:spPr>
          <a:xfrm>
            <a:off x="548640" y="6473952"/>
            <a:ext cx="11064240" cy="0"/>
          </a:xfrm>
          <a:prstGeom prst="line">
            <a:avLst/>
          </a:prstGeom>
          <a:noFill/>
          <a:ln w="12700">
            <a:solidFill>
              <a:srgbClr val="E5E7EB"/>
            </a:solidFill>
            <a:prstDash val="solid"/>
          </a:ln>
        </p:spPr>
      </p:sp>
      <p:sp>
        <p:nvSpPr>
          <p:cNvPr id="22" name="Text 19"/>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11/15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349240"/>
            <a:ext cx="10195560" cy="731520"/>
          </a:xfrm>
          <a:prstGeom prst="roundRect">
            <a:avLst/>
          </a:prstGeom>
          <a:solidFill>
            <a:srgbClr val="D1FAE5"/>
          </a:solidFill>
          <a:ln w="12700">
            <a:solidFill>
              <a:srgbClr val="81C784"/>
            </a:solidFill>
            <a:prstDash val="solid"/>
          </a:ln>
        </p:spPr>
      </p:sp>
      <p:sp>
        <p:nvSpPr>
          <p:cNvPr id="6" name="Shape 4"/>
          <p:cNvSpPr/>
          <p:nvPr/>
        </p:nvSpPr>
        <p:spPr>
          <a:xfrm>
            <a:off x="868680" y="5349240"/>
            <a:ext cx="10195560" cy="7315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生态意义的生活化应用</a:t>
            </a:r>
            <a:endParaRPr lang="en-US" sz="2600" dirty="0"/>
          </a:p>
        </p:txBody>
      </p:sp>
      <p:sp>
        <p:nvSpPr>
          <p:cNvPr id="8" name="Shape 6"/>
          <p:cNvSpPr/>
          <p:nvPr/>
        </p:nvSpPr>
        <p:spPr>
          <a:xfrm>
            <a:off x="868680" y="1645920"/>
            <a:ext cx="3252216" cy="3429000"/>
          </a:xfrm>
          <a:prstGeom prst="roundRect">
            <a:avLst/>
          </a:prstGeom>
          <a:solidFill>
            <a:srgbClr val="FFFFFF"/>
          </a:solidFill>
          <a:ln w="12700">
            <a:solidFill>
              <a:srgbClr val="81C784"/>
            </a:solidFill>
            <a:prstDash val="solid"/>
          </a:ln>
        </p:spPr>
      </p:sp>
      <p:sp>
        <p:nvSpPr>
          <p:cNvPr id="9" name="Text 7"/>
          <p:cNvSpPr/>
          <p:nvPr/>
        </p:nvSpPr>
        <p:spPr>
          <a:xfrm>
            <a:off x="1033272"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植树造林：增加绿色植物数量，增强吸收二氧化碳和释放氧气的作用</a:t>
            </a:r>
            <a:endParaRPr lang="en-US" sz="1300" dirty="0"/>
          </a:p>
        </p:txBody>
      </p:sp>
      <p:sp>
        <p:nvSpPr>
          <p:cNvPr id="10" name="Shape 8"/>
          <p:cNvSpPr/>
          <p:nvPr/>
        </p:nvSpPr>
        <p:spPr>
          <a:xfrm>
            <a:off x="4340352" y="1645920"/>
            <a:ext cx="3252216" cy="3429000"/>
          </a:xfrm>
          <a:prstGeom prst="roundRect">
            <a:avLst/>
          </a:prstGeom>
          <a:solidFill>
            <a:srgbClr val="FFEDD5"/>
          </a:solidFill>
          <a:ln w="12700">
            <a:solidFill>
              <a:srgbClr val="81C784"/>
            </a:solidFill>
            <a:prstDash val="solid"/>
          </a:ln>
        </p:spPr>
      </p:sp>
      <p:sp>
        <p:nvSpPr>
          <p:cNvPr id="11" name="Text 9"/>
          <p:cNvSpPr/>
          <p:nvPr/>
        </p:nvSpPr>
        <p:spPr>
          <a:xfrm>
            <a:off x="4504944"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合理密植：更充分利用光照与空间，提高产量</a:t>
            </a:r>
            <a:endParaRPr lang="en-US" sz="1300" dirty="0"/>
          </a:p>
        </p:txBody>
      </p:sp>
      <p:sp>
        <p:nvSpPr>
          <p:cNvPr id="12" name="Shape 10"/>
          <p:cNvSpPr/>
          <p:nvPr/>
        </p:nvSpPr>
        <p:spPr>
          <a:xfrm>
            <a:off x="7812024" y="1645920"/>
            <a:ext cx="3252216" cy="3429000"/>
          </a:xfrm>
          <a:prstGeom prst="roundRect">
            <a:avLst/>
          </a:prstGeom>
          <a:solidFill>
            <a:srgbClr val="FFFFFF"/>
          </a:solidFill>
          <a:ln w="12700">
            <a:solidFill>
              <a:srgbClr val="81C784"/>
            </a:solidFill>
            <a:prstDash val="solid"/>
          </a:ln>
        </p:spPr>
      </p:sp>
      <p:sp>
        <p:nvSpPr>
          <p:cNvPr id="13" name="Text 11"/>
          <p:cNvSpPr/>
          <p:nvPr/>
        </p:nvSpPr>
        <p:spPr>
          <a:xfrm>
            <a:off x="7976616"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温室栽培：适当增强光照或补充二氧化碳，促进生长</a:t>
            </a:r>
            <a:endParaRPr lang="en-US" sz="1300" dirty="0"/>
          </a:p>
        </p:txBody>
      </p:sp>
      <p:sp>
        <p:nvSpPr>
          <p:cNvPr id="14" name="Text 12"/>
          <p:cNvSpPr/>
          <p:nvPr/>
        </p:nvSpPr>
        <p:spPr>
          <a:xfrm>
            <a:off x="1033272" y="547725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案例说明</a:t>
            </a:r>
            <a:endParaRPr lang="en-US" sz="1200" dirty="0"/>
          </a:p>
        </p:txBody>
      </p:sp>
      <p:sp>
        <p:nvSpPr>
          <p:cNvPr id="15" name="Text 13"/>
          <p:cNvSpPr/>
          <p:nvPr/>
        </p:nvSpPr>
        <p:spPr>
          <a:xfrm>
            <a:off x="1033272" y="576986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温室大棚中，白天适当补充二氧化碳并保证充足光照，作物通常长得更好，因为二氧化碳和光都是光合作用的重要条件，条件更适宜时可制造更多有机物。 易错：认为种得越密越好；把增产完全归因于施肥；只会说“保护环境”而说不清具体机制。</a:t>
            </a:r>
            <a:endParaRPr lang="en-US" sz="1100" dirty="0"/>
          </a:p>
        </p:txBody>
      </p:sp>
      <p:sp>
        <p:nvSpPr>
          <p:cNvPr id="16" name="Text 14"/>
          <p:cNvSpPr/>
          <p:nvPr/>
        </p:nvSpPr>
        <p:spPr>
          <a:xfrm>
            <a:off x="1033272" y="547725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生活追问</a:t>
            </a:r>
            <a:endParaRPr lang="en-US" sz="1200" dirty="0"/>
          </a:p>
        </p:txBody>
      </p:sp>
      <p:sp>
        <p:nvSpPr>
          <p:cNvPr id="17" name="Text 15"/>
          <p:cNvSpPr/>
          <p:nvPr/>
        </p:nvSpPr>
        <p:spPr>
          <a:xfrm>
            <a:off x="1033272" y="576986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为什么农田里不是种得越密越好？为什么温室里有时要专门补充二氧化碳？请你用“因为……所以……”把原因说完整。</a:t>
            </a:r>
            <a:endParaRPr lang="en-US" sz="1100" dirty="0"/>
          </a:p>
        </p:txBody>
      </p:sp>
      <p:sp>
        <p:nvSpPr>
          <p:cNvPr id="19" name="Shape 16"/>
          <p:cNvSpPr/>
          <p:nvPr/>
        </p:nvSpPr>
        <p:spPr>
          <a:xfrm>
            <a:off x="548640" y="6473952"/>
            <a:ext cx="11064240" cy="0"/>
          </a:xfrm>
          <a:prstGeom prst="line">
            <a:avLst/>
          </a:prstGeom>
          <a:noFill/>
          <a:ln w="12700">
            <a:solidFill>
              <a:srgbClr val="E5E7EB"/>
            </a:solidFill>
            <a:prstDash val="solid"/>
          </a:ln>
        </p:spPr>
      </p:sp>
      <p:sp>
        <p:nvSpPr>
          <p:cNvPr id="20" name="Text 17"/>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12/15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349240"/>
            <a:ext cx="10195560" cy="731520"/>
          </a:xfrm>
          <a:prstGeom prst="roundRect">
            <a:avLst/>
          </a:prstGeom>
          <a:solidFill>
            <a:srgbClr val="D1FAE5"/>
          </a:solidFill>
          <a:ln w="12700">
            <a:solidFill>
              <a:srgbClr val="81C784"/>
            </a:solidFill>
            <a:prstDash val="solid"/>
          </a:ln>
        </p:spPr>
      </p:sp>
      <p:sp>
        <p:nvSpPr>
          <p:cNvPr id="6" name="Shape 4"/>
          <p:cNvSpPr/>
          <p:nvPr/>
        </p:nvSpPr>
        <p:spPr>
          <a:xfrm>
            <a:off x="822960" y="1645920"/>
            <a:ext cx="6400800" cy="4389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实验题型突破：现象到结论</a:t>
            </a:r>
            <a:endParaRPr lang="en-US" sz="2600" dirty="0"/>
          </a:p>
        </p:txBody>
      </p:sp>
      <p:sp>
        <p:nvSpPr>
          <p:cNvPr id="8" name="Shape 6"/>
          <p:cNvSpPr/>
          <p:nvPr/>
        </p:nvSpPr>
        <p:spPr>
          <a:xfrm>
            <a:off x="868680" y="1645920"/>
            <a:ext cx="3252216" cy="3429000"/>
          </a:xfrm>
          <a:prstGeom prst="roundRect">
            <a:avLst/>
          </a:prstGeom>
          <a:solidFill>
            <a:srgbClr val="FFFFFF"/>
          </a:solidFill>
          <a:ln w="12700">
            <a:solidFill>
              <a:srgbClr val="81C784"/>
            </a:solidFill>
            <a:prstDash val="solid"/>
          </a:ln>
        </p:spPr>
      </p:sp>
      <p:sp>
        <p:nvSpPr>
          <p:cNvPr id="9" name="Text 7"/>
          <p:cNvSpPr/>
          <p:nvPr/>
        </p:nvSpPr>
        <p:spPr>
          <a:xfrm>
            <a:off x="1033272"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叶片滴碘液后变蓝：说明有淀粉形成</a:t>
            </a:r>
            <a:endParaRPr lang="en-US" sz="1300" dirty="0"/>
          </a:p>
        </p:txBody>
      </p:sp>
      <p:sp>
        <p:nvSpPr>
          <p:cNvPr id="10" name="Shape 8"/>
          <p:cNvSpPr/>
          <p:nvPr/>
        </p:nvSpPr>
        <p:spPr>
          <a:xfrm>
            <a:off x="4340352" y="1645920"/>
            <a:ext cx="3252216" cy="3429000"/>
          </a:xfrm>
          <a:prstGeom prst="roundRect">
            <a:avLst/>
          </a:prstGeom>
          <a:solidFill>
            <a:srgbClr val="FFEDD5"/>
          </a:solidFill>
          <a:ln w="12700">
            <a:solidFill>
              <a:srgbClr val="81C784"/>
            </a:solidFill>
            <a:prstDash val="solid"/>
          </a:ln>
        </p:spPr>
      </p:sp>
      <p:sp>
        <p:nvSpPr>
          <p:cNvPr id="11" name="Text 9"/>
          <p:cNvSpPr/>
          <p:nvPr/>
        </p:nvSpPr>
        <p:spPr>
          <a:xfrm>
            <a:off x="4504944"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叶片不变蓝：说明没有形成淀粉</a:t>
            </a:r>
            <a:endParaRPr lang="en-US" sz="1300" dirty="0"/>
          </a:p>
        </p:txBody>
      </p:sp>
      <p:sp>
        <p:nvSpPr>
          <p:cNvPr id="12" name="Shape 10"/>
          <p:cNvSpPr/>
          <p:nvPr/>
        </p:nvSpPr>
        <p:spPr>
          <a:xfrm>
            <a:off x="7812024" y="1645920"/>
            <a:ext cx="3252216" cy="3429000"/>
          </a:xfrm>
          <a:prstGeom prst="roundRect">
            <a:avLst/>
          </a:prstGeom>
          <a:solidFill>
            <a:srgbClr val="FFFFFF"/>
          </a:solidFill>
          <a:ln w="12700">
            <a:solidFill>
              <a:srgbClr val="81C784"/>
            </a:solidFill>
            <a:prstDash val="solid"/>
          </a:ln>
        </p:spPr>
      </p:sp>
      <p:sp>
        <p:nvSpPr>
          <p:cNvPr id="13" name="Text 11"/>
          <p:cNvSpPr/>
          <p:nvPr/>
        </p:nvSpPr>
        <p:spPr>
          <a:xfrm>
            <a:off x="7976616" y="1847088"/>
            <a:ext cx="2923032" cy="306324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气泡增多：常提示氧气释放增加</a:t>
            </a:r>
            <a:endParaRPr lang="en-US" sz="1300" dirty="0"/>
          </a:p>
        </p:txBody>
      </p:sp>
      <p:sp>
        <p:nvSpPr>
          <p:cNvPr id="14" name="Shape 12"/>
          <p:cNvSpPr/>
          <p:nvPr/>
        </p:nvSpPr>
        <p:spPr>
          <a:xfrm>
            <a:off x="822960" y="594360"/>
            <a:ext cx="4818888" cy="265176"/>
          </a:xfrm>
          <a:prstGeom prst="roundRect">
            <a:avLst/>
          </a:prstGeom>
          <a:solidFill>
            <a:srgbClr val="FFFFFF"/>
          </a:solidFill>
          <a:ln w="12700">
            <a:solidFill>
              <a:srgbClr val="81C784"/>
            </a:solidFill>
            <a:prstDash val="solid"/>
          </a:ln>
        </p:spPr>
      </p:sp>
      <p:sp>
        <p:nvSpPr>
          <p:cNvPr id="15" name="Text 13"/>
          <p:cNvSpPr/>
          <p:nvPr/>
        </p:nvSpPr>
        <p:spPr>
          <a:xfrm>
            <a:off x="987552" y="722376"/>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1</a:t>
            </a:r>
            <a:endParaRPr lang="en-US" sz="1200" dirty="0"/>
          </a:p>
        </p:txBody>
      </p:sp>
      <p:sp>
        <p:nvSpPr>
          <p:cNvPr id="16" name="Text 14"/>
          <p:cNvSpPr/>
          <p:nvPr/>
        </p:nvSpPr>
        <p:spPr>
          <a:xfrm>
            <a:off x="987552" y="1014984"/>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任务1：先看实验目的，明确要验证的条件或产物</a:t>
            </a:r>
            <a:endParaRPr lang="en-US" sz="1200" dirty="0"/>
          </a:p>
        </p:txBody>
      </p:sp>
      <p:sp>
        <p:nvSpPr>
          <p:cNvPr id="17" name="Shape 15"/>
          <p:cNvSpPr/>
          <p:nvPr/>
        </p:nvSpPr>
        <p:spPr>
          <a:xfrm>
            <a:off x="5879592" y="594360"/>
            <a:ext cx="4818888" cy="265176"/>
          </a:xfrm>
          <a:prstGeom prst="roundRect">
            <a:avLst/>
          </a:prstGeom>
          <a:solidFill>
            <a:srgbClr val="FFEDD5"/>
          </a:solidFill>
          <a:ln w="12700">
            <a:solidFill>
              <a:srgbClr val="81C784"/>
            </a:solidFill>
            <a:prstDash val="solid"/>
          </a:ln>
        </p:spPr>
      </p:sp>
      <p:sp>
        <p:nvSpPr>
          <p:cNvPr id="18" name="Text 16"/>
          <p:cNvSpPr/>
          <p:nvPr/>
        </p:nvSpPr>
        <p:spPr>
          <a:xfrm>
            <a:off x="6044184" y="722376"/>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2</a:t>
            </a:r>
            <a:endParaRPr lang="en-US" sz="1200" dirty="0"/>
          </a:p>
        </p:txBody>
      </p:sp>
      <p:sp>
        <p:nvSpPr>
          <p:cNvPr id="19" name="Text 17"/>
          <p:cNvSpPr/>
          <p:nvPr/>
        </p:nvSpPr>
        <p:spPr>
          <a:xfrm>
            <a:off x="6044184" y="1014984"/>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任务2：找出对照组、实验组和单一变量</a:t>
            </a:r>
            <a:endParaRPr lang="en-US" sz="1200" dirty="0"/>
          </a:p>
        </p:txBody>
      </p:sp>
      <p:sp>
        <p:nvSpPr>
          <p:cNvPr id="20" name="Shape 18"/>
          <p:cNvSpPr/>
          <p:nvPr/>
        </p:nvSpPr>
        <p:spPr>
          <a:xfrm>
            <a:off x="822960" y="1060704"/>
            <a:ext cx="4818888" cy="265176"/>
          </a:xfrm>
          <a:prstGeom prst="roundRect">
            <a:avLst/>
          </a:prstGeom>
          <a:solidFill>
            <a:srgbClr val="D1FAE5"/>
          </a:solidFill>
          <a:ln w="12700">
            <a:solidFill>
              <a:srgbClr val="81C784"/>
            </a:solidFill>
            <a:prstDash val="solid"/>
          </a:ln>
        </p:spPr>
      </p:sp>
      <p:sp>
        <p:nvSpPr>
          <p:cNvPr id="21" name="Text 19"/>
          <p:cNvSpPr/>
          <p:nvPr/>
        </p:nvSpPr>
        <p:spPr>
          <a:xfrm>
            <a:off x="987552" y="1188720"/>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3</a:t>
            </a:r>
            <a:endParaRPr lang="en-US" sz="1200" dirty="0"/>
          </a:p>
        </p:txBody>
      </p:sp>
      <p:sp>
        <p:nvSpPr>
          <p:cNvPr id="22" name="Text 20"/>
          <p:cNvSpPr/>
          <p:nvPr/>
        </p:nvSpPr>
        <p:spPr>
          <a:xfrm>
            <a:off x="987552" y="1481328"/>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任务3：根据现象先说“说明了什么”</a:t>
            </a:r>
            <a:endParaRPr lang="en-US" sz="1200" dirty="0"/>
          </a:p>
        </p:txBody>
      </p:sp>
      <p:sp>
        <p:nvSpPr>
          <p:cNvPr id="23" name="Shape 21"/>
          <p:cNvSpPr/>
          <p:nvPr/>
        </p:nvSpPr>
        <p:spPr>
          <a:xfrm>
            <a:off x="5879592" y="1060704"/>
            <a:ext cx="4818888" cy="265176"/>
          </a:xfrm>
          <a:prstGeom prst="roundRect">
            <a:avLst/>
          </a:prstGeom>
          <a:solidFill>
            <a:srgbClr val="FFFFFF"/>
          </a:solidFill>
          <a:ln w="12700">
            <a:solidFill>
              <a:srgbClr val="81C784"/>
            </a:solidFill>
            <a:prstDash val="solid"/>
          </a:ln>
        </p:spPr>
      </p:sp>
      <p:sp>
        <p:nvSpPr>
          <p:cNvPr id="24" name="Text 22"/>
          <p:cNvSpPr/>
          <p:nvPr/>
        </p:nvSpPr>
        <p:spPr>
          <a:xfrm>
            <a:off x="6044184" y="1188720"/>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4</a:t>
            </a:r>
            <a:endParaRPr lang="en-US" sz="1200" dirty="0"/>
          </a:p>
        </p:txBody>
      </p:sp>
      <p:sp>
        <p:nvSpPr>
          <p:cNvPr id="25" name="Text 23"/>
          <p:cNvSpPr/>
          <p:nvPr/>
        </p:nvSpPr>
        <p:spPr>
          <a:xfrm>
            <a:off x="6044184" y="1481328"/>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任务4：最后写出与实验目的匹配的结论</a:t>
            </a:r>
            <a:endParaRPr lang="en-US" sz="1200" dirty="0"/>
          </a:p>
        </p:txBody>
      </p:sp>
      <p:sp>
        <p:nvSpPr>
          <p:cNvPr id="26" name="Text 24"/>
          <p:cNvSpPr/>
          <p:nvPr/>
        </p:nvSpPr>
        <p:spPr>
          <a:xfrm>
            <a:off x="1033272" y="547725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题型示范</a:t>
            </a:r>
            <a:endParaRPr lang="en-US" sz="1200" dirty="0"/>
          </a:p>
        </p:txBody>
      </p:sp>
      <p:sp>
        <p:nvSpPr>
          <p:cNvPr id="27" name="Text 25"/>
          <p:cNvSpPr/>
          <p:nvPr/>
        </p:nvSpPr>
        <p:spPr>
          <a:xfrm>
            <a:off x="1033272" y="576986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例题中，未遮光部分变蓝、遮光部分不变蓝。应先写：未遮光部分形成了淀粉，遮光部分未形成淀粉；再写：见光部分进行了光合作用并制造了有机物；最后得出结论：光是光合作用制造有机物的必要条件。 易错：只抄现象；没有找单一变量；把“变蓝”直接写成“产生氧气”；结论写得过大或偏离实验目的。</a:t>
            </a:r>
            <a:endParaRPr lang="en-US" sz="1100" dirty="0"/>
          </a:p>
        </p:txBody>
      </p:sp>
      <p:sp>
        <p:nvSpPr>
          <p:cNvPr id="28" name="Text 26"/>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接龙练习</a:t>
            </a:r>
            <a:endParaRPr lang="en-US" sz="1200" dirty="0"/>
          </a:p>
        </p:txBody>
      </p:sp>
      <p:sp>
        <p:nvSpPr>
          <p:cNvPr id="29" name="Text 27"/>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如果题目只给你“遮光部分不变蓝”这一句，你能按“现象—推理—结论”三步把答案完整说出来吗？</a:t>
            </a:r>
            <a:endParaRPr lang="en-US" sz="1100" dirty="0"/>
          </a:p>
        </p:txBody>
      </p:sp>
      <p:sp>
        <p:nvSpPr>
          <p:cNvPr id="31" name="Shape 28"/>
          <p:cNvSpPr/>
          <p:nvPr/>
        </p:nvSpPr>
        <p:spPr>
          <a:xfrm>
            <a:off x="548640" y="6473952"/>
            <a:ext cx="11064240" cy="0"/>
          </a:xfrm>
          <a:prstGeom prst="line">
            <a:avLst/>
          </a:prstGeom>
          <a:noFill/>
          <a:ln w="12700">
            <a:solidFill>
              <a:srgbClr val="E5E7EB"/>
            </a:solidFill>
            <a:prstDash val="solid"/>
          </a:ln>
        </p:spPr>
      </p:sp>
      <p:sp>
        <p:nvSpPr>
          <p:cNvPr id="32" name="Text 29"/>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13/15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868680" y="5440680"/>
            <a:ext cx="10195560" cy="685800"/>
          </a:xfrm>
          <a:prstGeom prst="roundRect">
            <a:avLst/>
          </a:prstGeom>
          <a:solidFill>
            <a:srgbClr val="D1FAE5"/>
          </a:solidFill>
          <a:ln w="12700">
            <a:solidFill>
              <a:srgbClr val="81C784"/>
            </a:solidFill>
            <a:prstDash val="solid"/>
          </a:ln>
        </p:spPr>
      </p:sp>
      <p:sp>
        <p:nvSpPr>
          <p:cNvPr id="6" name="Shape 4"/>
          <p:cNvSpPr/>
          <p:nvPr/>
        </p:nvSpPr>
        <p:spPr>
          <a:xfrm>
            <a:off x="822960" y="1645920"/>
            <a:ext cx="6400800" cy="4389120"/>
          </a:xfrm>
          <a:prstGeom prst="roundRect">
            <a:avLst/>
          </a:prstGeom>
          <a:solidFill>
            <a:srgbClr val="FFEDD5"/>
          </a:solidFill>
          <a:ln w="12700">
            <a:solidFill>
              <a:srgbClr val="81C784"/>
            </a:solidFill>
            <a:prstDash val="solid"/>
          </a:ln>
        </p:spPr>
      </p:sp>
      <p:sp>
        <p:nvSpPr>
          <p:cNvPr id="7" name="Text 5"/>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易错题集中梳理</a:t>
            </a:r>
            <a:endParaRPr lang="en-US" sz="2600" dirty="0"/>
          </a:p>
        </p:txBody>
      </p:sp>
      <p:sp>
        <p:nvSpPr>
          <p:cNvPr id="8" name="Shape 6"/>
          <p:cNvSpPr/>
          <p:nvPr/>
        </p:nvSpPr>
        <p:spPr>
          <a:xfrm>
            <a:off x="868680" y="1645920"/>
            <a:ext cx="3252216" cy="3611880"/>
          </a:xfrm>
          <a:prstGeom prst="roundRect">
            <a:avLst/>
          </a:prstGeom>
          <a:solidFill>
            <a:srgbClr val="FFFFFF"/>
          </a:solidFill>
          <a:ln w="12700">
            <a:solidFill>
              <a:srgbClr val="81C784"/>
            </a:solidFill>
            <a:prstDash val="solid"/>
          </a:ln>
        </p:spPr>
      </p:sp>
      <p:sp>
        <p:nvSpPr>
          <p:cNvPr id="9" name="Text 7"/>
          <p:cNvSpPr/>
          <p:nvPr/>
        </p:nvSpPr>
        <p:spPr>
          <a:xfrm>
            <a:off x="1033272" y="1847088"/>
            <a:ext cx="2923032" cy="32461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错误：二氧化碳、水、氧气都是产物；正确：二氧化碳和水是原料，氧气和有机物是产物</a:t>
            </a:r>
            <a:endParaRPr lang="en-US" sz="1300" dirty="0"/>
          </a:p>
        </p:txBody>
      </p:sp>
      <p:sp>
        <p:nvSpPr>
          <p:cNvPr id="10" name="Shape 8"/>
          <p:cNvSpPr/>
          <p:nvPr/>
        </p:nvSpPr>
        <p:spPr>
          <a:xfrm>
            <a:off x="4340352" y="1645920"/>
            <a:ext cx="3252216" cy="3611880"/>
          </a:xfrm>
          <a:prstGeom prst="roundRect">
            <a:avLst/>
          </a:prstGeom>
          <a:solidFill>
            <a:srgbClr val="FFEDD5"/>
          </a:solidFill>
          <a:ln w="12700">
            <a:solidFill>
              <a:srgbClr val="81C784"/>
            </a:solidFill>
            <a:prstDash val="solid"/>
          </a:ln>
        </p:spPr>
      </p:sp>
      <p:sp>
        <p:nvSpPr>
          <p:cNvPr id="11" name="Text 9"/>
          <p:cNvSpPr/>
          <p:nvPr/>
        </p:nvSpPr>
        <p:spPr>
          <a:xfrm>
            <a:off x="4504944" y="1847088"/>
            <a:ext cx="2923032" cy="32461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错误：叶片变蓝就是结论；正确：变蓝说明有淀粉形成，进而说明进行了光合作用</a:t>
            </a:r>
            <a:endParaRPr lang="en-US" sz="1300" dirty="0"/>
          </a:p>
        </p:txBody>
      </p:sp>
      <p:sp>
        <p:nvSpPr>
          <p:cNvPr id="12" name="Shape 10"/>
          <p:cNvSpPr/>
          <p:nvPr/>
        </p:nvSpPr>
        <p:spPr>
          <a:xfrm>
            <a:off x="7812024" y="1645920"/>
            <a:ext cx="3252216" cy="3611880"/>
          </a:xfrm>
          <a:prstGeom prst="roundRect">
            <a:avLst/>
          </a:prstGeom>
          <a:solidFill>
            <a:srgbClr val="FFFFFF"/>
          </a:solidFill>
          <a:ln w="12700">
            <a:solidFill>
              <a:srgbClr val="81C784"/>
            </a:solidFill>
            <a:prstDash val="solid"/>
          </a:ln>
        </p:spPr>
      </p:sp>
      <p:sp>
        <p:nvSpPr>
          <p:cNvPr id="13" name="Text 11"/>
          <p:cNvSpPr/>
          <p:nvPr/>
        </p:nvSpPr>
        <p:spPr>
          <a:xfrm>
            <a:off x="7976616" y="1847088"/>
            <a:ext cx="2923032" cy="3246120"/>
          </a:xfrm>
          <a:prstGeom prst="rect">
            <a:avLst/>
          </a:prstGeom>
          <a:noFill/>
          <a:ln/>
        </p:spPr>
        <p:txBody>
          <a:bodyPr wrap="square" lIns="0" tIns="0" rIns="0" bIns="0" rtlCol="0" anchor="t">
            <a:normAutofit/>
          </a:bodyPr>
          <a:lstStyle/>
          <a:p>
            <a:pPr indent="0" marL="0">
              <a:buNone/>
            </a:pPr>
            <a:r>
              <a:rPr lang="en-US" sz="1300" dirty="0">
                <a:solidFill>
                  <a:srgbClr val="1F2D1F"/>
                </a:solidFill>
                <a:latin typeface="Microsoft YaHei" pitchFamily="34" charset="0"/>
                <a:ea typeface="Microsoft YaHei" pitchFamily="34" charset="-122"/>
                <a:cs typeface="Microsoft YaHei" pitchFamily="34" charset="-120"/>
              </a:rPr>
              <a:t>错误：生态意义就是净化空气；正确：还要写有机物来源、释放氧气和维持碳氧平衡</a:t>
            </a:r>
            <a:endParaRPr lang="en-US" sz="1300" dirty="0"/>
          </a:p>
        </p:txBody>
      </p:sp>
      <p:sp>
        <p:nvSpPr>
          <p:cNvPr id="14" name="Shape 12"/>
          <p:cNvSpPr/>
          <p:nvPr/>
        </p:nvSpPr>
        <p:spPr>
          <a:xfrm>
            <a:off x="822960" y="594360"/>
            <a:ext cx="4818888" cy="265176"/>
          </a:xfrm>
          <a:prstGeom prst="roundRect">
            <a:avLst/>
          </a:prstGeom>
          <a:solidFill>
            <a:srgbClr val="FFFFFF"/>
          </a:solidFill>
          <a:ln w="12700">
            <a:solidFill>
              <a:srgbClr val="81C784"/>
            </a:solidFill>
            <a:prstDash val="solid"/>
          </a:ln>
        </p:spPr>
      </p:sp>
      <p:sp>
        <p:nvSpPr>
          <p:cNvPr id="15" name="Text 13"/>
          <p:cNvSpPr/>
          <p:nvPr/>
        </p:nvSpPr>
        <p:spPr>
          <a:xfrm>
            <a:off x="987552" y="722376"/>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1</a:t>
            </a:r>
            <a:endParaRPr lang="en-US" sz="1200" dirty="0"/>
          </a:p>
        </p:txBody>
      </p:sp>
      <p:sp>
        <p:nvSpPr>
          <p:cNvPr id="16" name="Text 14"/>
          <p:cNvSpPr/>
          <p:nvPr/>
        </p:nvSpPr>
        <p:spPr>
          <a:xfrm>
            <a:off x="987552" y="1014984"/>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条件/原料/产物是否混淆</a:t>
            </a:r>
            <a:endParaRPr lang="en-US" sz="1200" dirty="0"/>
          </a:p>
        </p:txBody>
      </p:sp>
      <p:sp>
        <p:nvSpPr>
          <p:cNvPr id="17" name="Shape 15"/>
          <p:cNvSpPr/>
          <p:nvPr/>
        </p:nvSpPr>
        <p:spPr>
          <a:xfrm>
            <a:off x="5879592" y="594360"/>
            <a:ext cx="4818888" cy="265176"/>
          </a:xfrm>
          <a:prstGeom prst="roundRect">
            <a:avLst/>
          </a:prstGeom>
          <a:solidFill>
            <a:srgbClr val="FFEDD5"/>
          </a:solidFill>
          <a:ln w="12700">
            <a:solidFill>
              <a:srgbClr val="81C784"/>
            </a:solidFill>
            <a:prstDash val="solid"/>
          </a:ln>
        </p:spPr>
      </p:sp>
      <p:sp>
        <p:nvSpPr>
          <p:cNvPr id="18" name="Text 16"/>
          <p:cNvSpPr/>
          <p:nvPr/>
        </p:nvSpPr>
        <p:spPr>
          <a:xfrm>
            <a:off x="6044184" y="722376"/>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2</a:t>
            </a:r>
            <a:endParaRPr lang="en-US" sz="1200" dirty="0"/>
          </a:p>
        </p:txBody>
      </p:sp>
      <p:sp>
        <p:nvSpPr>
          <p:cNvPr id="19" name="Text 17"/>
          <p:cNvSpPr/>
          <p:nvPr/>
        </p:nvSpPr>
        <p:spPr>
          <a:xfrm>
            <a:off x="6044184" y="1014984"/>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光合作用与呼吸作用是否混淆</a:t>
            </a:r>
            <a:endParaRPr lang="en-US" sz="1200" dirty="0"/>
          </a:p>
        </p:txBody>
      </p:sp>
      <p:sp>
        <p:nvSpPr>
          <p:cNvPr id="20" name="Shape 18"/>
          <p:cNvSpPr/>
          <p:nvPr/>
        </p:nvSpPr>
        <p:spPr>
          <a:xfrm>
            <a:off x="822960" y="1060704"/>
            <a:ext cx="4818888" cy="265176"/>
          </a:xfrm>
          <a:prstGeom prst="roundRect">
            <a:avLst/>
          </a:prstGeom>
          <a:solidFill>
            <a:srgbClr val="D1FAE5"/>
          </a:solidFill>
          <a:ln w="12700">
            <a:solidFill>
              <a:srgbClr val="81C784"/>
            </a:solidFill>
            <a:prstDash val="solid"/>
          </a:ln>
        </p:spPr>
      </p:sp>
      <p:sp>
        <p:nvSpPr>
          <p:cNvPr id="21" name="Text 19"/>
          <p:cNvSpPr/>
          <p:nvPr/>
        </p:nvSpPr>
        <p:spPr>
          <a:xfrm>
            <a:off x="987552" y="1188720"/>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3</a:t>
            </a:r>
            <a:endParaRPr lang="en-US" sz="1200" dirty="0"/>
          </a:p>
        </p:txBody>
      </p:sp>
      <p:sp>
        <p:nvSpPr>
          <p:cNvPr id="22" name="Text 20"/>
          <p:cNvSpPr/>
          <p:nvPr/>
        </p:nvSpPr>
        <p:spPr>
          <a:xfrm>
            <a:off x="987552" y="1481328"/>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实验现象与实验结论是否混淆</a:t>
            </a:r>
            <a:endParaRPr lang="en-US" sz="1200" dirty="0"/>
          </a:p>
        </p:txBody>
      </p:sp>
      <p:sp>
        <p:nvSpPr>
          <p:cNvPr id="23" name="Shape 21"/>
          <p:cNvSpPr/>
          <p:nvPr/>
        </p:nvSpPr>
        <p:spPr>
          <a:xfrm>
            <a:off x="5879592" y="1060704"/>
            <a:ext cx="4818888" cy="265176"/>
          </a:xfrm>
          <a:prstGeom prst="roundRect">
            <a:avLst/>
          </a:prstGeom>
          <a:solidFill>
            <a:srgbClr val="FFFFFF"/>
          </a:solidFill>
          <a:ln w="12700">
            <a:solidFill>
              <a:srgbClr val="81C784"/>
            </a:solidFill>
            <a:prstDash val="solid"/>
          </a:ln>
        </p:spPr>
      </p:sp>
      <p:sp>
        <p:nvSpPr>
          <p:cNvPr id="24" name="Text 22"/>
          <p:cNvSpPr/>
          <p:nvPr/>
        </p:nvSpPr>
        <p:spPr>
          <a:xfrm>
            <a:off x="6044184" y="1188720"/>
            <a:ext cx="4489704"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任务 4</a:t>
            </a:r>
            <a:endParaRPr lang="en-US" sz="1200" dirty="0"/>
          </a:p>
        </p:txBody>
      </p:sp>
      <p:sp>
        <p:nvSpPr>
          <p:cNvPr id="25" name="Text 23"/>
          <p:cNvSpPr/>
          <p:nvPr/>
        </p:nvSpPr>
        <p:spPr>
          <a:xfrm>
            <a:off x="6044184" y="1481328"/>
            <a:ext cx="4489704" cy="274320"/>
          </a:xfrm>
          <a:prstGeom prst="rect">
            <a:avLst/>
          </a:prstGeom>
          <a:noFill/>
          <a:ln/>
        </p:spPr>
        <p:txBody>
          <a:bodyPr wrap="square" lIns="0" tIns="0" rIns="0" bIns="0" rtlCol="0" anchor="t">
            <a:normAutofit/>
          </a:bodyPr>
          <a:lstStyle/>
          <a:p>
            <a:pPr indent="0" marL="0">
              <a:buNone/>
            </a:pPr>
            <a:r>
              <a:rPr lang="en-US" sz="1200" dirty="0">
                <a:solidFill>
                  <a:srgbClr val="1F2D1F"/>
                </a:solidFill>
                <a:latin typeface="Microsoft YaHei" pitchFamily="34" charset="0"/>
                <a:ea typeface="Microsoft YaHei" pitchFamily="34" charset="-122"/>
                <a:cs typeface="Microsoft YaHei" pitchFamily="34" charset="-120"/>
              </a:rPr>
              <a:t>生态意义是否只写了“释放氧气”</a:t>
            </a:r>
            <a:endParaRPr lang="en-US" sz="1200" dirty="0"/>
          </a:p>
        </p:txBody>
      </p:sp>
      <p:sp>
        <p:nvSpPr>
          <p:cNvPr id="26" name="Text 24"/>
          <p:cNvSpPr/>
          <p:nvPr/>
        </p:nvSpPr>
        <p:spPr>
          <a:xfrm>
            <a:off x="1033272" y="5568696"/>
            <a:ext cx="98663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答题模板</a:t>
            </a:r>
            <a:endParaRPr lang="en-US" sz="1200" dirty="0"/>
          </a:p>
        </p:txBody>
      </p:sp>
      <p:sp>
        <p:nvSpPr>
          <p:cNvPr id="27" name="Text 25"/>
          <p:cNvSpPr/>
          <p:nvPr/>
        </p:nvSpPr>
        <p:spPr>
          <a:xfrm>
            <a:off x="1033272" y="5861304"/>
            <a:ext cx="98663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模板一：根据……现象，说明……，由此可知……。 模板二：因为……影响了光合作用，所以……。</a:t>
            </a:r>
            <a:endParaRPr lang="en-US" sz="1100" dirty="0"/>
          </a:p>
        </p:txBody>
      </p:sp>
      <p:sp>
        <p:nvSpPr>
          <p:cNvPr id="28" name="Text 26"/>
          <p:cNvSpPr/>
          <p:nvPr/>
        </p:nvSpPr>
        <p:spPr>
          <a:xfrm>
            <a:off x="987552" y="1773936"/>
            <a:ext cx="6071616" cy="219456"/>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集中追问</a:t>
            </a:r>
            <a:endParaRPr lang="en-US" sz="1200" dirty="0"/>
          </a:p>
        </p:txBody>
      </p:sp>
      <p:sp>
        <p:nvSpPr>
          <p:cNvPr id="29" name="Text 27"/>
          <p:cNvSpPr/>
          <p:nvPr/>
        </p:nvSpPr>
        <p:spPr>
          <a:xfrm>
            <a:off x="987552" y="2066544"/>
            <a:ext cx="6071616" cy="3877056"/>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如果题目让你写“光合作用的意义”，只写“释放氧气”够不够？为什么还要补充有机物来源和碳氧平衡？</a:t>
            </a:r>
            <a:endParaRPr lang="en-US" sz="1100" dirty="0"/>
          </a:p>
        </p:txBody>
      </p:sp>
      <p:sp>
        <p:nvSpPr>
          <p:cNvPr id="31" name="Shape 28"/>
          <p:cNvSpPr/>
          <p:nvPr/>
        </p:nvSpPr>
        <p:spPr>
          <a:xfrm>
            <a:off x="548640" y="6473952"/>
            <a:ext cx="11064240" cy="0"/>
          </a:xfrm>
          <a:prstGeom prst="line">
            <a:avLst/>
          </a:prstGeom>
          <a:noFill/>
          <a:ln w="12700">
            <a:solidFill>
              <a:srgbClr val="E5E7EB"/>
            </a:solidFill>
            <a:prstDash val="solid"/>
          </a:ln>
        </p:spPr>
      </p:sp>
      <p:sp>
        <p:nvSpPr>
          <p:cNvPr id="32" name="Text 29"/>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14/15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BF5"/>
        </a:solidFill>
      </p:bgPr>
    </p:bg>
    <p:spTree>
      <p:nvGrpSpPr>
        <p:cNvPr id="1" name=""/>
        <p:cNvGrpSpPr/>
        <p:nvPr/>
      </p:nvGrpSpPr>
      <p:grpSpPr>
        <a:xfrm>
          <a:off x="0" y="0"/>
          <a:ext cx="0" cy="0"/>
          <a:chOff x="0" y="0"/>
          <a:chExt cx="0" cy="0"/>
        </a:xfrm>
      </p:grpSpPr>
      <p:sp>
        <p:nvSpPr>
          <p:cNvPr id="2" name="Shape 0"/>
          <p:cNvSpPr/>
          <p:nvPr/>
        </p:nvSpPr>
        <p:spPr>
          <a:xfrm>
            <a:off x="9966960" y="640080"/>
            <a:ext cx="1188720" cy="1188720"/>
          </a:xfrm>
          <a:prstGeom prst="ellipse">
            <a:avLst/>
          </a:prstGeom>
          <a:solidFill>
            <a:srgbClr val="81C784">
              <a:alpha val="70000"/>
            </a:srgbClr>
          </a:solidFill>
          <a:ln w="12700">
            <a:solidFill>
              <a:srgbClr val="81C784">
                <a:alpha val="70000"/>
              </a:srgbClr>
            </a:solidFill>
            <a:prstDash val="solid"/>
          </a:ln>
        </p:spPr>
      </p:sp>
      <p:sp>
        <p:nvSpPr>
          <p:cNvPr id="3" name="Shape 1"/>
          <p:cNvSpPr/>
          <p:nvPr/>
        </p:nvSpPr>
        <p:spPr>
          <a:xfrm>
            <a:off x="10561320" y="1234440"/>
            <a:ext cx="731520" cy="731520"/>
          </a:xfrm>
          <a:prstGeom prst="ellipse">
            <a:avLst/>
          </a:prstGeom>
          <a:solidFill>
            <a:srgbClr val="2E7D32">
              <a:alpha val="80000"/>
            </a:srgbClr>
          </a:solidFill>
          <a:ln w="12700">
            <a:solidFill>
              <a:srgbClr val="2E7D32">
                <a:alpha val="80000"/>
              </a:srgbClr>
            </a:solidFill>
            <a:prstDash val="solid"/>
          </a:ln>
        </p:spPr>
      </p:sp>
      <p:sp>
        <p:nvSpPr>
          <p:cNvPr id="4" name="Shape 2"/>
          <p:cNvSpPr/>
          <p:nvPr/>
        </p:nvSpPr>
        <p:spPr>
          <a:xfrm>
            <a:off x="411480" y="5394960"/>
            <a:ext cx="1005840" cy="1005840"/>
          </a:xfrm>
          <a:prstGeom prst="ellipse">
            <a:avLst/>
          </a:prstGeom>
          <a:solidFill>
            <a:srgbClr val="81C784">
              <a:alpha val="65000"/>
            </a:srgbClr>
          </a:solidFill>
          <a:ln w="12700">
            <a:solidFill>
              <a:srgbClr val="81C784">
                <a:alpha val="65000"/>
              </a:srgbClr>
            </a:solidFill>
            <a:prstDash val="solid"/>
          </a:ln>
        </p:spPr>
      </p:sp>
      <p:sp>
        <p:nvSpPr>
          <p:cNvPr id="5" name="Shape 3"/>
          <p:cNvSpPr/>
          <p:nvPr/>
        </p:nvSpPr>
        <p:spPr>
          <a:xfrm>
            <a:off x="777240" y="1783080"/>
            <a:ext cx="3364992" cy="3246120"/>
          </a:xfrm>
          <a:prstGeom prst="roundRect">
            <a:avLst/>
          </a:prstGeom>
          <a:solidFill>
            <a:srgbClr val="FFFFFF"/>
          </a:solidFill>
          <a:ln w="12700">
            <a:solidFill>
              <a:srgbClr val="E2E8F0"/>
            </a:solidFill>
            <a:prstDash val="solid"/>
          </a:ln>
        </p:spPr>
      </p:sp>
      <p:sp>
        <p:nvSpPr>
          <p:cNvPr id="6" name="Shape 4"/>
          <p:cNvSpPr/>
          <p:nvPr/>
        </p:nvSpPr>
        <p:spPr>
          <a:xfrm>
            <a:off x="777240" y="1783080"/>
            <a:ext cx="3364992" cy="146304"/>
          </a:xfrm>
          <a:prstGeom prst="rect">
            <a:avLst/>
          </a:prstGeom>
          <a:solidFill>
            <a:srgbClr val="81C784"/>
          </a:solidFill>
          <a:ln w="12700">
            <a:solidFill>
              <a:srgbClr val="81C784"/>
            </a:solidFill>
            <a:prstDash val="solid"/>
          </a:ln>
        </p:spPr>
      </p:sp>
      <p:sp>
        <p:nvSpPr>
          <p:cNvPr id="7" name="Text 5"/>
          <p:cNvSpPr/>
          <p:nvPr/>
        </p:nvSpPr>
        <p:spPr>
          <a:xfrm>
            <a:off x="941832" y="1965960"/>
            <a:ext cx="3035808"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要点 1</a:t>
            </a:r>
            <a:endParaRPr lang="en-US" sz="1200" dirty="0"/>
          </a:p>
        </p:txBody>
      </p:sp>
      <p:sp>
        <p:nvSpPr>
          <p:cNvPr id="8" name="Text 6"/>
          <p:cNvSpPr/>
          <p:nvPr/>
        </p:nvSpPr>
        <p:spPr>
          <a:xfrm>
            <a:off x="941832" y="2313432"/>
            <a:ext cx="3035808" cy="255117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 定义：绿色植物在光能作用下，将二氧化碳和水合成有机物并释放氧气</a:t>
            </a:r>
            <a:endParaRPr lang="en-US" sz="1100" dirty="0"/>
          </a:p>
          <a:p>
            <a:pPr indent="0" marL="0">
              <a:buNone/>
            </a:pPr>
            <a:r>
              <a:rPr lang="en-US" sz="1100" dirty="0">
                <a:solidFill>
                  <a:srgbClr val="1F2D1F"/>
                </a:solidFill>
                <a:latin typeface="Microsoft YaHei" pitchFamily="34" charset="0"/>
                <a:ea typeface="Microsoft YaHei" pitchFamily="34" charset="-122"/>
                <a:cs typeface="Microsoft YaHei" pitchFamily="34" charset="-120"/>
              </a:rPr>
              <a:t>• 条件与原料：光、叶绿体、二氧化碳和水缺一不可</a:t>
            </a:r>
            <a:endParaRPr lang="en-US" sz="1100" dirty="0"/>
          </a:p>
        </p:txBody>
      </p:sp>
      <p:sp>
        <p:nvSpPr>
          <p:cNvPr id="9" name="Shape 7"/>
          <p:cNvSpPr/>
          <p:nvPr/>
        </p:nvSpPr>
        <p:spPr>
          <a:xfrm>
            <a:off x="4398264" y="1783080"/>
            <a:ext cx="3364992" cy="3246120"/>
          </a:xfrm>
          <a:prstGeom prst="roundRect">
            <a:avLst/>
          </a:prstGeom>
          <a:solidFill>
            <a:srgbClr val="FFFFFF"/>
          </a:solidFill>
          <a:ln w="12700">
            <a:solidFill>
              <a:srgbClr val="E2E8F0"/>
            </a:solidFill>
            <a:prstDash val="solid"/>
          </a:ln>
        </p:spPr>
      </p:sp>
      <p:sp>
        <p:nvSpPr>
          <p:cNvPr id="10" name="Shape 8"/>
          <p:cNvSpPr/>
          <p:nvPr/>
        </p:nvSpPr>
        <p:spPr>
          <a:xfrm>
            <a:off x="4398264" y="1783080"/>
            <a:ext cx="3364992" cy="146304"/>
          </a:xfrm>
          <a:prstGeom prst="rect">
            <a:avLst/>
          </a:prstGeom>
          <a:solidFill>
            <a:srgbClr val="81C784"/>
          </a:solidFill>
          <a:ln w="12700">
            <a:solidFill>
              <a:srgbClr val="81C784"/>
            </a:solidFill>
            <a:prstDash val="solid"/>
          </a:ln>
        </p:spPr>
      </p:sp>
      <p:sp>
        <p:nvSpPr>
          <p:cNvPr id="11" name="Text 9"/>
          <p:cNvSpPr/>
          <p:nvPr/>
        </p:nvSpPr>
        <p:spPr>
          <a:xfrm>
            <a:off x="4562856" y="1965960"/>
            <a:ext cx="3035808"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要点 2</a:t>
            </a:r>
            <a:endParaRPr lang="en-US" sz="1200" dirty="0"/>
          </a:p>
        </p:txBody>
      </p:sp>
      <p:sp>
        <p:nvSpPr>
          <p:cNvPr id="12" name="Text 10"/>
          <p:cNvSpPr/>
          <p:nvPr/>
        </p:nvSpPr>
        <p:spPr>
          <a:xfrm>
            <a:off x="4562856" y="2313432"/>
            <a:ext cx="3035808" cy="255117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 过程与产物：制造有机物、释放氧气，并把光能储存在有机物中</a:t>
            </a:r>
            <a:endParaRPr lang="en-US" sz="1100" dirty="0"/>
          </a:p>
          <a:p>
            <a:pPr indent="0" marL="0">
              <a:buNone/>
            </a:pPr>
            <a:r>
              <a:rPr lang="en-US" sz="1100" dirty="0">
                <a:solidFill>
                  <a:srgbClr val="1F2D1F"/>
                </a:solidFill>
                <a:latin typeface="Microsoft YaHei" pitchFamily="34" charset="0"/>
                <a:ea typeface="Microsoft YaHei" pitchFamily="34" charset="-122"/>
                <a:cs typeface="Microsoft YaHei" pitchFamily="34" charset="-120"/>
              </a:rPr>
              <a:t>• 生态意义：提供物质来源、维持碳氧平衡、奠定能量流动起点</a:t>
            </a:r>
            <a:endParaRPr lang="en-US" sz="1100" dirty="0"/>
          </a:p>
        </p:txBody>
      </p:sp>
      <p:sp>
        <p:nvSpPr>
          <p:cNvPr id="13" name="Shape 11"/>
          <p:cNvSpPr/>
          <p:nvPr/>
        </p:nvSpPr>
        <p:spPr>
          <a:xfrm>
            <a:off x="8019288" y="1783080"/>
            <a:ext cx="3364992" cy="3246120"/>
          </a:xfrm>
          <a:prstGeom prst="roundRect">
            <a:avLst/>
          </a:prstGeom>
          <a:solidFill>
            <a:srgbClr val="FFFFFF"/>
          </a:solidFill>
          <a:ln w="12700">
            <a:solidFill>
              <a:srgbClr val="E2E8F0"/>
            </a:solidFill>
            <a:prstDash val="solid"/>
          </a:ln>
        </p:spPr>
      </p:sp>
      <p:sp>
        <p:nvSpPr>
          <p:cNvPr id="14" name="Shape 12"/>
          <p:cNvSpPr/>
          <p:nvPr/>
        </p:nvSpPr>
        <p:spPr>
          <a:xfrm>
            <a:off x="8019288" y="1783080"/>
            <a:ext cx="3364992" cy="146304"/>
          </a:xfrm>
          <a:prstGeom prst="rect">
            <a:avLst/>
          </a:prstGeom>
          <a:solidFill>
            <a:srgbClr val="81C784"/>
          </a:solidFill>
          <a:ln w="12700">
            <a:solidFill>
              <a:srgbClr val="81C784"/>
            </a:solidFill>
            <a:prstDash val="solid"/>
          </a:ln>
        </p:spPr>
      </p:sp>
      <p:sp>
        <p:nvSpPr>
          <p:cNvPr id="15" name="Text 13"/>
          <p:cNvSpPr/>
          <p:nvPr/>
        </p:nvSpPr>
        <p:spPr>
          <a:xfrm>
            <a:off x="8183880" y="1965960"/>
            <a:ext cx="3035808"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要点 3</a:t>
            </a:r>
            <a:endParaRPr lang="en-US" sz="1200" dirty="0"/>
          </a:p>
        </p:txBody>
      </p:sp>
      <p:sp>
        <p:nvSpPr>
          <p:cNvPr id="16" name="Text 14"/>
          <p:cNvSpPr/>
          <p:nvPr/>
        </p:nvSpPr>
        <p:spPr>
          <a:xfrm>
            <a:off x="8183880" y="2313432"/>
            <a:ext cx="3035808" cy="255117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 实验方法：按“实验目的—单一变量—现象—推理—结论”规范作答</a:t>
            </a:r>
            <a:endParaRPr lang="en-US" sz="1100" dirty="0"/>
          </a:p>
        </p:txBody>
      </p:sp>
      <p:sp>
        <p:nvSpPr>
          <p:cNvPr id="17" name="Shape 15"/>
          <p:cNvSpPr/>
          <p:nvPr/>
        </p:nvSpPr>
        <p:spPr>
          <a:xfrm>
            <a:off x="914400" y="5349240"/>
            <a:ext cx="9966960" cy="731520"/>
          </a:xfrm>
          <a:prstGeom prst="roundRect">
            <a:avLst/>
          </a:prstGeom>
          <a:solidFill>
            <a:srgbClr val="D1FAE5"/>
          </a:solidFill>
          <a:ln w="12700">
            <a:solidFill>
              <a:srgbClr val="2E7D32"/>
            </a:solidFill>
            <a:prstDash val="solid"/>
          </a:ln>
        </p:spPr>
      </p:sp>
      <p:sp>
        <p:nvSpPr>
          <p:cNvPr id="18" name="Text 16"/>
          <p:cNvSpPr/>
          <p:nvPr/>
        </p:nvSpPr>
        <p:spPr>
          <a:xfrm>
            <a:off x="822960" y="594360"/>
            <a:ext cx="9875520" cy="731520"/>
          </a:xfrm>
          <a:prstGeom prst="rect">
            <a:avLst/>
          </a:prstGeom>
          <a:noFill/>
          <a:ln/>
        </p:spPr>
        <p:txBody>
          <a:bodyPr wrap="square" lIns="0" tIns="0" rIns="0" bIns="0" rtlCol="0" anchor="t">
            <a:normAutofit/>
          </a:bodyPr>
          <a:lstStyle/>
          <a:p>
            <a:pPr indent="0" marL="0">
              <a:buNone/>
            </a:pPr>
            <a:r>
              <a:rPr lang="en-US" sz="2600" b="1" dirty="0">
                <a:solidFill>
                  <a:srgbClr val="1F2D1F"/>
                </a:solidFill>
                <a:latin typeface="Microsoft YaHei" pitchFamily="34" charset="0"/>
                <a:ea typeface="Microsoft YaHei" pitchFamily="34" charset="-122"/>
                <a:cs typeface="Microsoft YaHei" pitchFamily="34" charset="-120"/>
              </a:rPr>
              <a:t>课堂总结</a:t>
            </a:r>
            <a:endParaRPr lang="en-US" sz="2600" dirty="0"/>
          </a:p>
        </p:txBody>
      </p:sp>
      <p:sp>
        <p:nvSpPr>
          <p:cNvPr id="19" name="Shape 17"/>
          <p:cNvSpPr/>
          <p:nvPr/>
        </p:nvSpPr>
        <p:spPr>
          <a:xfrm>
            <a:off x="777240" y="1783080"/>
            <a:ext cx="3364992" cy="3246120"/>
          </a:xfrm>
          <a:prstGeom prst="roundRect">
            <a:avLst/>
          </a:prstGeom>
          <a:solidFill>
            <a:srgbClr val="FFFFFF"/>
          </a:solidFill>
          <a:ln w="12700">
            <a:solidFill>
              <a:srgbClr val="E2E8F0"/>
            </a:solidFill>
            <a:prstDash val="solid"/>
          </a:ln>
        </p:spPr>
      </p:sp>
      <p:sp>
        <p:nvSpPr>
          <p:cNvPr id="20" name="Shape 18"/>
          <p:cNvSpPr/>
          <p:nvPr/>
        </p:nvSpPr>
        <p:spPr>
          <a:xfrm>
            <a:off x="777240" y="1783080"/>
            <a:ext cx="3364992" cy="146304"/>
          </a:xfrm>
          <a:prstGeom prst="rect">
            <a:avLst/>
          </a:prstGeom>
          <a:solidFill>
            <a:srgbClr val="81C784"/>
          </a:solidFill>
          <a:ln w="12700">
            <a:solidFill>
              <a:srgbClr val="81C784"/>
            </a:solidFill>
            <a:prstDash val="solid"/>
          </a:ln>
        </p:spPr>
      </p:sp>
      <p:sp>
        <p:nvSpPr>
          <p:cNvPr id="21" name="Text 19"/>
          <p:cNvSpPr/>
          <p:nvPr/>
        </p:nvSpPr>
        <p:spPr>
          <a:xfrm>
            <a:off x="941832" y="1965960"/>
            <a:ext cx="3035808"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要点 1</a:t>
            </a:r>
            <a:endParaRPr lang="en-US" sz="1200" dirty="0"/>
          </a:p>
        </p:txBody>
      </p:sp>
      <p:sp>
        <p:nvSpPr>
          <p:cNvPr id="22" name="Text 20"/>
          <p:cNvSpPr/>
          <p:nvPr/>
        </p:nvSpPr>
        <p:spPr>
          <a:xfrm>
            <a:off x="941832" y="2313432"/>
            <a:ext cx="3035808" cy="255117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 定义：绿色植物在光能作用下，将二氧化碳和水合成有机物并释放氧气</a:t>
            </a:r>
            <a:endParaRPr lang="en-US" sz="1100" dirty="0"/>
          </a:p>
          <a:p>
            <a:pPr indent="0" marL="0">
              <a:buNone/>
            </a:pPr>
            <a:r>
              <a:rPr lang="en-US" sz="1100" dirty="0">
                <a:solidFill>
                  <a:srgbClr val="1F2D1F"/>
                </a:solidFill>
                <a:latin typeface="Microsoft YaHei" pitchFamily="34" charset="0"/>
                <a:ea typeface="Microsoft YaHei" pitchFamily="34" charset="-122"/>
                <a:cs typeface="Microsoft YaHei" pitchFamily="34" charset="-120"/>
              </a:rPr>
              <a:t>• 条件与原料：光、叶绿体、二氧化碳和水缺一不可</a:t>
            </a:r>
            <a:endParaRPr lang="en-US" sz="1100" dirty="0"/>
          </a:p>
        </p:txBody>
      </p:sp>
      <p:sp>
        <p:nvSpPr>
          <p:cNvPr id="23" name="Shape 21"/>
          <p:cNvSpPr/>
          <p:nvPr/>
        </p:nvSpPr>
        <p:spPr>
          <a:xfrm>
            <a:off x="4398264" y="1783080"/>
            <a:ext cx="3364992" cy="3246120"/>
          </a:xfrm>
          <a:prstGeom prst="roundRect">
            <a:avLst/>
          </a:prstGeom>
          <a:solidFill>
            <a:srgbClr val="FFFFFF"/>
          </a:solidFill>
          <a:ln w="12700">
            <a:solidFill>
              <a:srgbClr val="E2E8F0"/>
            </a:solidFill>
            <a:prstDash val="solid"/>
          </a:ln>
        </p:spPr>
      </p:sp>
      <p:sp>
        <p:nvSpPr>
          <p:cNvPr id="24" name="Shape 22"/>
          <p:cNvSpPr/>
          <p:nvPr/>
        </p:nvSpPr>
        <p:spPr>
          <a:xfrm>
            <a:off x="4398264" y="1783080"/>
            <a:ext cx="3364992" cy="146304"/>
          </a:xfrm>
          <a:prstGeom prst="rect">
            <a:avLst/>
          </a:prstGeom>
          <a:solidFill>
            <a:srgbClr val="81C784"/>
          </a:solidFill>
          <a:ln w="12700">
            <a:solidFill>
              <a:srgbClr val="81C784"/>
            </a:solidFill>
            <a:prstDash val="solid"/>
          </a:ln>
        </p:spPr>
      </p:sp>
      <p:sp>
        <p:nvSpPr>
          <p:cNvPr id="25" name="Text 23"/>
          <p:cNvSpPr/>
          <p:nvPr/>
        </p:nvSpPr>
        <p:spPr>
          <a:xfrm>
            <a:off x="4562856" y="1965960"/>
            <a:ext cx="3035808"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要点 2</a:t>
            </a:r>
            <a:endParaRPr lang="en-US" sz="1200" dirty="0"/>
          </a:p>
        </p:txBody>
      </p:sp>
      <p:sp>
        <p:nvSpPr>
          <p:cNvPr id="26" name="Text 24"/>
          <p:cNvSpPr/>
          <p:nvPr/>
        </p:nvSpPr>
        <p:spPr>
          <a:xfrm>
            <a:off x="4562856" y="2313432"/>
            <a:ext cx="3035808" cy="255117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 过程与产物：制造有机物、释放氧气，并把光能储存在有机物中</a:t>
            </a:r>
            <a:endParaRPr lang="en-US" sz="1100" dirty="0"/>
          </a:p>
          <a:p>
            <a:pPr indent="0" marL="0">
              <a:buNone/>
            </a:pPr>
            <a:r>
              <a:rPr lang="en-US" sz="1100" dirty="0">
                <a:solidFill>
                  <a:srgbClr val="1F2D1F"/>
                </a:solidFill>
                <a:latin typeface="Microsoft YaHei" pitchFamily="34" charset="0"/>
                <a:ea typeface="Microsoft YaHei" pitchFamily="34" charset="-122"/>
                <a:cs typeface="Microsoft YaHei" pitchFamily="34" charset="-120"/>
              </a:rPr>
              <a:t>• 生态意义：提供物质来源、维持碳氧平衡、奠定能量流动起点</a:t>
            </a:r>
            <a:endParaRPr lang="en-US" sz="1100" dirty="0"/>
          </a:p>
        </p:txBody>
      </p:sp>
      <p:sp>
        <p:nvSpPr>
          <p:cNvPr id="27" name="Shape 25"/>
          <p:cNvSpPr/>
          <p:nvPr/>
        </p:nvSpPr>
        <p:spPr>
          <a:xfrm>
            <a:off x="8019288" y="1783080"/>
            <a:ext cx="3364992" cy="3246120"/>
          </a:xfrm>
          <a:prstGeom prst="roundRect">
            <a:avLst/>
          </a:prstGeom>
          <a:solidFill>
            <a:srgbClr val="FFFFFF"/>
          </a:solidFill>
          <a:ln w="12700">
            <a:solidFill>
              <a:srgbClr val="E2E8F0"/>
            </a:solidFill>
            <a:prstDash val="solid"/>
          </a:ln>
        </p:spPr>
      </p:sp>
      <p:sp>
        <p:nvSpPr>
          <p:cNvPr id="28" name="Shape 26"/>
          <p:cNvSpPr/>
          <p:nvPr/>
        </p:nvSpPr>
        <p:spPr>
          <a:xfrm>
            <a:off x="8019288" y="1783080"/>
            <a:ext cx="3364992" cy="146304"/>
          </a:xfrm>
          <a:prstGeom prst="rect">
            <a:avLst/>
          </a:prstGeom>
          <a:solidFill>
            <a:srgbClr val="81C784"/>
          </a:solidFill>
          <a:ln w="12700">
            <a:solidFill>
              <a:srgbClr val="81C784"/>
            </a:solidFill>
            <a:prstDash val="solid"/>
          </a:ln>
        </p:spPr>
      </p:sp>
      <p:sp>
        <p:nvSpPr>
          <p:cNvPr id="29" name="Text 27"/>
          <p:cNvSpPr/>
          <p:nvPr/>
        </p:nvSpPr>
        <p:spPr>
          <a:xfrm>
            <a:off x="8183880" y="1965960"/>
            <a:ext cx="3035808" cy="201168"/>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要点 3</a:t>
            </a:r>
            <a:endParaRPr lang="en-US" sz="1200" dirty="0"/>
          </a:p>
        </p:txBody>
      </p:sp>
      <p:sp>
        <p:nvSpPr>
          <p:cNvPr id="30" name="Text 28"/>
          <p:cNvSpPr/>
          <p:nvPr/>
        </p:nvSpPr>
        <p:spPr>
          <a:xfrm>
            <a:off x="8183880" y="2313432"/>
            <a:ext cx="3035808" cy="2551176"/>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 实验方法：按“实验目的—单一变量—现象—推理—结论”规范作答</a:t>
            </a:r>
            <a:endParaRPr lang="en-US" sz="1100" dirty="0"/>
          </a:p>
        </p:txBody>
      </p:sp>
      <p:sp>
        <p:nvSpPr>
          <p:cNvPr id="31" name="Text 29"/>
          <p:cNvSpPr/>
          <p:nvPr/>
        </p:nvSpPr>
        <p:spPr>
          <a:xfrm>
            <a:off x="1078992" y="5477256"/>
            <a:ext cx="96377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课后复习提醒</a:t>
            </a:r>
            <a:endParaRPr lang="en-US" sz="1200" dirty="0"/>
          </a:p>
        </p:txBody>
      </p:sp>
      <p:sp>
        <p:nvSpPr>
          <p:cNvPr id="32" name="Text 30"/>
          <p:cNvSpPr/>
          <p:nvPr/>
        </p:nvSpPr>
        <p:spPr>
          <a:xfrm>
            <a:off x="1078992" y="5769864"/>
            <a:ext cx="96377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重点检查三类易错点：条件与产物混淆、现象与结论混淆、光合作用与呼吸作用混淆。</a:t>
            </a:r>
            <a:endParaRPr lang="en-US" sz="1100" dirty="0"/>
          </a:p>
        </p:txBody>
      </p:sp>
      <p:sp>
        <p:nvSpPr>
          <p:cNvPr id="33" name="Text 31"/>
          <p:cNvSpPr/>
          <p:nvPr/>
        </p:nvSpPr>
        <p:spPr>
          <a:xfrm>
            <a:off x="1078992" y="5477256"/>
            <a:ext cx="9637776" cy="219456"/>
          </a:xfrm>
          <a:prstGeom prst="rect">
            <a:avLst/>
          </a:prstGeom>
          <a:noFill/>
          <a:ln/>
        </p:spPr>
        <p:txBody>
          <a:bodyPr wrap="square" lIns="0" tIns="0" rIns="0" bIns="0" rtlCol="0" anchor="t">
            <a:normAutofit/>
          </a:bodyPr>
          <a:lstStyle/>
          <a:p>
            <a:pPr indent="0" marL="0">
              <a:buNone/>
            </a:pPr>
            <a:r>
              <a:rPr lang="en-US" sz="1200" b="1" dirty="0">
                <a:solidFill>
                  <a:srgbClr val="2E7D32"/>
                </a:solidFill>
                <a:latin typeface="Microsoft YaHei" pitchFamily="34" charset="0"/>
                <a:ea typeface="Microsoft YaHei" pitchFamily="34" charset="-122"/>
                <a:cs typeface="Microsoft YaHei" pitchFamily="34" charset="-120"/>
              </a:rPr>
              <a:t>离堂前复述</a:t>
            </a:r>
            <a:endParaRPr lang="en-US" sz="1200" dirty="0"/>
          </a:p>
        </p:txBody>
      </p:sp>
      <p:sp>
        <p:nvSpPr>
          <p:cNvPr id="34" name="Text 32"/>
          <p:cNvSpPr/>
          <p:nvPr/>
        </p:nvSpPr>
        <p:spPr>
          <a:xfrm>
            <a:off x="1078992" y="5769864"/>
            <a:ext cx="9637776" cy="274320"/>
          </a:xfrm>
          <a:prstGeom prst="rect">
            <a:avLst/>
          </a:prstGeom>
          <a:noFill/>
          <a:ln/>
        </p:spPr>
        <p:txBody>
          <a:bodyPr wrap="square" lIns="0" tIns="0" rIns="0" bIns="0" rtlCol="0" anchor="t">
            <a:normAutofit/>
          </a:bodyPr>
          <a:lstStyle/>
          <a:p>
            <a:pPr indent="0" marL="0">
              <a:buNone/>
            </a:pPr>
            <a:r>
              <a:rPr lang="en-US" sz="1100" dirty="0">
                <a:solidFill>
                  <a:srgbClr val="1F2D1F"/>
                </a:solidFill>
                <a:latin typeface="Microsoft YaHei" pitchFamily="34" charset="0"/>
                <a:ea typeface="Microsoft YaHei" pitchFamily="34" charset="-122"/>
                <a:cs typeface="Microsoft YaHei" pitchFamily="34" charset="-120"/>
              </a:rPr>
              <a:t>谁能用一句完整的话说出光合作用的定义，再补充一个实验现象来证明其中某个条件？</a:t>
            </a:r>
            <a:endParaRPr lang="en-US" sz="1100" dirty="0"/>
          </a:p>
        </p:txBody>
      </p:sp>
      <p:sp>
        <p:nvSpPr>
          <p:cNvPr id="36" name="Shape 33"/>
          <p:cNvSpPr/>
          <p:nvPr/>
        </p:nvSpPr>
        <p:spPr>
          <a:xfrm>
            <a:off x="548640" y="6473952"/>
            <a:ext cx="11064240" cy="0"/>
          </a:xfrm>
          <a:prstGeom prst="line">
            <a:avLst/>
          </a:prstGeom>
          <a:noFill/>
          <a:ln w="12700">
            <a:solidFill>
              <a:srgbClr val="E5E7EB"/>
            </a:solidFill>
            <a:prstDash val="solid"/>
          </a:ln>
        </p:spPr>
      </p:sp>
      <p:sp>
        <p:nvSpPr>
          <p:cNvPr id="37" name="Text 34"/>
          <p:cNvSpPr/>
          <p:nvPr/>
        </p:nvSpPr>
        <p:spPr>
          <a:xfrm>
            <a:off x="640080" y="6528816"/>
            <a:ext cx="10972800" cy="256032"/>
          </a:xfrm>
          <a:prstGeom prst="rect">
            <a:avLst/>
          </a:prstGeom>
          <a:noFill/>
          <a:ln/>
        </p:spPr>
        <p:txBody>
          <a:bodyPr wrap="square" rtlCol="0" anchor="ctr"/>
          <a:lstStyle/>
          <a:p>
            <a:pPr algn="r" indent="0" marL="0">
              <a:buNone/>
            </a:pPr>
            <a:r>
              <a:rPr lang="en-US" sz="1000" dirty="0">
                <a:solidFill>
                  <a:srgbClr val="64748B"/>
                </a:solidFill>
                <a:latin typeface="Microsoft YaHei" pitchFamily="34" charset="0"/>
                <a:ea typeface="Microsoft YaHei" pitchFamily="34" charset="-122"/>
                <a:cs typeface="Microsoft YaHei" pitchFamily="34" charset="-120"/>
              </a:rPr>
              <a:t>AI-Educate · 15/15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AI-Educate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Deck</dc:title>
  <dc:subject>Teaching Slides</dc:subject>
  <dc:creator>AI-Educate</dc:creator>
  <cp:lastModifiedBy>AI-Educate</cp:lastModifiedBy>
  <cp:revision>1</cp:revision>
  <dcterms:created xsi:type="dcterms:W3CDTF">2026-04-10T15:05:06Z</dcterms:created>
  <dcterms:modified xsi:type="dcterms:W3CDTF">2026-04-10T15:05:06Z</dcterms:modified>
</cp:coreProperties>
</file>